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8" y="1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443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6" r="6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166813"/>
            <a:ext cx="8001000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576513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71500" y="3309938"/>
            <a:ext cx="604838" cy="114300"/>
          </a:xfrm>
          <a:prstGeom prst="rect">
            <a:avLst/>
          </a:prstGeom>
          <a:solidFill>
            <a:srgbClr val="7B8C9E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3757613"/>
            <a:ext cx="5497606" cy="5992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altLang="zh-CN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2350284</a:t>
            </a: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张俊峰、</a:t>
            </a:r>
            <a:r>
              <a:rPr lang="en-US" altLang="zh-CN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2351041</a:t>
            </a: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刘浩田、</a:t>
            </a:r>
            <a:r>
              <a:rPr lang="en-US" altLang="zh-CN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2351131</a:t>
            </a: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韦世贸、</a:t>
            </a:r>
            <a:r>
              <a:rPr lang="en-US" altLang="zh-CN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2354090</a:t>
            </a: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王家睿、</a:t>
            </a:r>
            <a:r>
              <a:rPr lang="en-US" altLang="zh-CN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2353731</a:t>
            </a: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毛韩宇、</a:t>
            </a:r>
            <a:r>
              <a:rPr lang="en-US" altLang="zh-CN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2354284</a:t>
            </a: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胡永杰、</a:t>
            </a:r>
            <a:r>
              <a:rPr lang="en-US" altLang="zh-CN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2351143</a:t>
            </a: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吕奎辰、</a:t>
            </a:r>
            <a:r>
              <a:rPr lang="en-US" altLang="zh-CN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2352031</a:t>
            </a: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古振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6452" b="6452"/>
          <a:stretch/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750" dirty="0"/>
          </a:p>
        </p:txBody>
      </p:sp>
      <p:sp>
        <p:nvSpPr>
          <p:cNvPr id="6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3524250" y="193119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7B8C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8" name="Text 4"/>
          <p:cNvSpPr/>
          <p:nvPr/>
        </p:nvSpPr>
        <p:spPr>
          <a:xfrm>
            <a:off x="3990975" y="20026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背景与目的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990975" y="225028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24250" y="255984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7B8C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3990975" y="263128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论文的实现方案与创新点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990975" y="28789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6" r="6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背景与目的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1847850"/>
            <a:ext cx="2085975" cy="23383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2890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</a:t>
            </a: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r>
              <a:rPr lang="en-US" sz="1200" b="1" dirty="0" err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普及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19412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微服务架构已成为云原生系统的主流范式，具有高度解耦、独立部署和快速迭代等优势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86025" y="1847850"/>
            <a:ext cx="2085975" cy="23383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62890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运维复杂性剧增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2919412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系统拓扑结构变得极其复杂，依赖关系错综甚至存在循环依赖，故障传播路径高度非线性</a:t>
            </a: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1999" y="1847850"/>
            <a:ext cx="2085975" cy="23383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62890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altLang="zh-CN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RCA</a:t>
            </a: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2919412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传统根因分析方法难以应对数据孤岛、非线性传播等问题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57975" y="1847850"/>
            <a:ext cx="2085975" cy="23383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62890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单智能体方案局限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2919412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大语言模型存在“幻觉”、缺乏可验证依据、决策过程黑箱等严重问题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 rotWithShape="1">
          <a:blip r:embed="rId4"/>
          <a:srcRect t="5217" b="35324"/>
          <a:stretch/>
        </p:blipFill>
        <p:spPr>
          <a:xfrm>
            <a:off x="0" y="0"/>
            <a:ext cx="9144000" cy="9358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600074" y="2055019"/>
            <a:ext cx="5038724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引入专业化分工的多智能体架构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555810" y="1155466"/>
            <a:ext cx="401619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本项目旨在构建一个多智能体协作的微服务根因分析实验系统，通过以下方式提升 </a:t>
            </a:r>
            <a:r>
              <a:rPr lang="en-US" altLang="zh-CN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RCA </a:t>
            </a: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的准确性、可解释性与可信度：</a:t>
            </a:r>
          </a:p>
        </p:txBody>
      </p:sp>
      <p:sp>
        <p:nvSpPr>
          <p:cNvPr id="14" name="Text 7"/>
          <p:cNvSpPr/>
          <p:nvPr/>
        </p:nvSpPr>
        <p:spPr>
          <a:xfrm>
            <a:off x="600074" y="3402803"/>
            <a:ext cx="50387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支持可视化审计与经济激励模型，抑制幻觉并提高协作质量</a:t>
            </a:r>
            <a:endParaRPr lang="en-US" sz="12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18E041A0-EDAE-4D08-8C5F-758589EA6FDE}"/>
              </a:ext>
            </a:extLst>
          </p:cNvPr>
          <p:cNvSpPr/>
          <p:nvPr/>
        </p:nvSpPr>
        <p:spPr>
          <a:xfrm>
            <a:off x="600075" y="2728911"/>
            <a:ext cx="5038724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利用区块链启发机制实现过程可追溯与共识治理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6" r="6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论文的实现方案与创新点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543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3608" r="3608"/>
          <a:stretch/>
        </p:blipFill>
        <p:spPr>
          <a:xfrm>
            <a:off x="0" y="0"/>
            <a:ext cx="9144000" cy="5543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论文原始方案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6E3CF501-89B1-447C-AB91-648BC5D3796B}"/>
              </a:ext>
            </a:extLst>
          </p:cNvPr>
          <p:cNvSpPr/>
          <p:nvPr/>
        </p:nvSpPr>
        <p:spPr>
          <a:xfrm>
            <a:off x="571500" y="1642643"/>
            <a:ext cx="5038724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altLang="zh-CN" sz="1200" b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</a:t>
            </a:r>
            <a:r>
              <a:rPr lang="zh-CN" altLang="en-US" sz="1200" b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个专业化 </a:t>
            </a:r>
            <a:r>
              <a:rPr lang="en-US" altLang="zh-CN" sz="1200" b="1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20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75D3E7A5-99AE-40A0-BDFB-0F3CDF6114AA}"/>
              </a:ext>
            </a:extLst>
          </p:cNvPr>
          <p:cNvSpPr/>
          <p:nvPr/>
        </p:nvSpPr>
        <p:spPr>
          <a:xfrm>
            <a:off x="571500" y="2319337"/>
            <a:ext cx="5038724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 </a:t>
            </a:r>
            <a:r>
              <a:rPr lang="en-US" altLang="zh-CN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Workflow</a:t>
            </a:r>
            <a:endParaRPr lang="en-US" sz="120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18566CEF-E191-412A-AB7A-9B6F5B8FFABB}"/>
              </a:ext>
            </a:extLst>
          </p:cNvPr>
          <p:cNvSpPr/>
          <p:nvPr/>
        </p:nvSpPr>
        <p:spPr>
          <a:xfrm>
            <a:off x="571500" y="3002336"/>
            <a:ext cx="5038724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区块链启发式投票机制</a:t>
            </a:r>
            <a:endParaRPr lang="en-US" sz="1200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849B3B73-C28F-4879-9100-66ACEDBEEC17}"/>
              </a:ext>
            </a:extLst>
          </p:cNvPr>
          <p:cNvSpPr/>
          <p:nvPr/>
        </p:nvSpPr>
        <p:spPr>
          <a:xfrm>
            <a:off x="1353672" y="3790951"/>
            <a:ext cx="7790328" cy="6535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效果：在 </a:t>
            </a:r>
            <a:r>
              <a:rPr lang="en-US" altLang="zh-CN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Train-Ticket </a:t>
            </a: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 </a:t>
            </a:r>
            <a:r>
              <a:rPr lang="en-US" altLang="zh-CN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AIOps Challenge </a:t>
            </a: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数据集上，根因准确率达 </a:t>
            </a:r>
            <a:r>
              <a:rPr lang="en-US" altLang="zh-CN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54.4%</a:t>
            </a: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，显著优于单智能体方法。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381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9701" r="9701"/>
          <a:stretch/>
        </p:blipFill>
        <p:spPr>
          <a:xfrm>
            <a:off x="0" y="0"/>
            <a:ext cx="9144000" cy="63817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t="5217" b="5217"/>
          <a:stretch/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本项目的工程化改进与创新点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740B936D-2943-4E88-A2A0-670B3C9E9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557857"/>
              </p:ext>
            </p:extLst>
          </p:nvPr>
        </p:nvGraphicFramePr>
        <p:xfrm>
          <a:off x="1461246" y="1036999"/>
          <a:ext cx="6221507" cy="5373326"/>
        </p:xfrm>
        <a:graphic>
          <a:graphicData uri="http://schemas.openxmlformats.org/drawingml/2006/table">
            <a:tbl>
              <a:tblPr/>
              <a:tblGrid>
                <a:gridCol w="2008095">
                  <a:extLst>
                    <a:ext uri="{9D8B030D-6E8A-4147-A177-3AD203B41FA5}">
                      <a16:colId xmlns:a16="http://schemas.microsoft.com/office/drawing/2014/main" val="3673802762"/>
                    </a:ext>
                  </a:extLst>
                </a:gridCol>
                <a:gridCol w="2106706">
                  <a:extLst>
                    <a:ext uri="{9D8B030D-6E8A-4147-A177-3AD203B41FA5}">
                      <a16:colId xmlns:a16="http://schemas.microsoft.com/office/drawing/2014/main" val="978377379"/>
                    </a:ext>
                  </a:extLst>
                </a:gridCol>
                <a:gridCol w="2106706">
                  <a:extLst>
                    <a:ext uri="{9D8B030D-6E8A-4147-A177-3AD203B41FA5}">
                      <a16:colId xmlns:a16="http://schemas.microsoft.com/office/drawing/2014/main" val="4048788870"/>
                    </a:ext>
                  </a:extLst>
                </a:gridCol>
              </a:tblGrid>
              <a:tr h="208067"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effectLst/>
                        </a:rPr>
                        <a:t>类别</a:t>
                      </a:r>
                    </a:p>
                  </a:txBody>
                  <a:tcPr marL="41677" marR="41677" marT="19235" marB="192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203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effectLst/>
                        </a:rPr>
                        <a:t>创新点</a:t>
                      </a:r>
                    </a:p>
                  </a:txBody>
                  <a:tcPr marL="41677" marR="41677" marT="19235" marB="192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A03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effectLst/>
                        </a:rPr>
                        <a:t>说明</a:t>
                      </a:r>
                    </a:p>
                  </a:txBody>
                  <a:tcPr marL="41677" marR="41677" marT="19235" marB="192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603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367782"/>
                  </a:ext>
                </a:extLst>
              </a:tr>
              <a:tr h="648680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effectLst/>
                        </a:rPr>
                        <a:t>轻量区块链模拟</a:t>
                      </a:r>
                      <a:endParaRPr lang="zh-CN" altLang="en-US" sz="1100" dirty="0">
                        <a:effectLst/>
                      </a:endParaRP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203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3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3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3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effectLst/>
                        </a:rPr>
                        <a:t>内存级 </a:t>
                      </a:r>
                      <a:r>
                        <a:rPr lang="en-US" altLang="zh-CN" sz="1100">
                          <a:effectLst/>
                        </a:rPr>
                        <a:t>Python </a:t>
                      </a:r>
                      <a:r>
                        <a:rPr lang="zh-CN" altLang="en-US" sz="1100">
                          <a:effectLst/>
                        </a:rPr>
                        <a:t>区块链底层</a:t>
                      </a: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203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3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3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3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effectLst/>
                        </a:rPr>
                        <a:t>实现交易验证、出块、</a:t>
                      </a:r>
                      <a:r>
                        <a:rPr lang="en-US" altLang="zh-CN" sz="1100">
                          <a:effectLst/>
                        </a:rPr>
                        <a:t>Merkle </a:t>
                      </a:r>
                      <a:r>
                        <a:rPr lang="zh-CN" altLang="en-US" sz="1100">
                          <a:effectLst/>
                        </a:rPr>
                        <a:t>树、事件记录，支持单机环境下的完整审计追踪。</a:t>
                      </a: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A03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3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3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3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341694"/>
                  </a:ext>
                </a:extLst>
              </a:tr>
              <a:tr h="648680">
                <a:tc>
                  <a:txBody>
                    <a:bodyPr/>
                    <a:lstStyle/>
                    <a:p>
                      <a:r>
                        <a:rPr lang="en-US" sz="1100" b="1" dirty="0">
                          <a:effectLst/>
                        </a:rPr>
                        <a:t>SOP </a:t>
                      </a:r>
                      <a:r>
                        <a:rPr lang="zh-CN" altLang="en-US" sz="1100" b="1" dirty="0">
                          <a:effectLst/>
                        </a:rPr>
                        <a:t>状态机约束</a:t>
                      </a:r>
                      <a:endParaRPr lang="zh-CN" altLang="en-US" sz="1100" dirty="0">
                        <a:effectLst/>
                      </a:endParaRP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200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0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3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0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effectLst/>
                        </a:rPr>
                        <a:t>运维流程合约（</a:t>
                      </a:r>
                      <a:r>
                        <a:rPr lang="en-US" sz="1100">
                          <a:effectLst/>
                        </a:rPr>
                        <a:t>Init → Data_Collected → Root_Cause_Proposed → Consensus → Solution）</a:t>
                      </a: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200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1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3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1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effectLst/>
                        </a:rPr>
                        <a:t>严格限制 </a:t>
                      </a:r>
                      <a:r>
                        <a:rPr lang="en-US" altLang="zh-CN" sz="1100">
                          <a:effectLst/>
                        </a:rPr>
                        <a:t>Agent </a:t>
                      </a:r>
                      <a:r>
                        <a:rPr lang="zh-CN" altLang="en-US" sz="1100">
                          <a:effectLst/>
                        </a:rPr>
                        <a:t>行为顺序，防止越界或跳步，提升流程可靠性。</a:t>
                      </a: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E01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0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3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0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340072"/>
                  </a:ext>
                </a:extLst>
              </a:tr>
              <a:tr h="942422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effectLst/>
                        </a:rPr>
                        <a:t>经济模型接口预留</a:t>
                      </a:r>
                      <a:endParaRPr lang="zh-CN" altLang="en-US" sz="1100" dirty="0">
                        <a:effectLst/>
                      </a:endParaRP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600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0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0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0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dirty="0" err="1">
                          <a:effectLst/>
                        </a:rPr>
                        <a:t>OpsToken</a:t>
                      </a:r>
                      <a:r>
                        <a:rPr lang="en-US" altLang="zh-CN" sz="1100" dirty="0">
                          <a:effectLst/>
                        </a:rPr>
                        <a:t> + </a:t>
                      </a:r>
                      <a:r>
                        <a:rPr lang="zh-CN" altLang="en-US" sz="1100" dirty="0">
                          <a:effectLst/>
                        </a:rPr>
                        <a:t>质押</a:t>
                      </a:r>
                      <a:r>
                        <a:rPr lang="en-US" altLang="zh-CN" sz="1100" dirty="0">
                          <a:effectLst/>
                        </a:rPr>
                        <a:t>/</a:t>
                      </a:r>
                      <a:r>
                        <a:rPr lang="zh-CN" altLang="en-US" sz="1100" dirty="0">
                          <a:effectLst/>
                        </a:rPr>
                        <a:t>奖励</a:t>
                      </a:r>
                      <a:r>
                        <a:rPr lang="en-US" altLang="zh-CN" sz="1100" dirty="0">
                          <a:effectLst/>
                        </a:rPr>
                        <a:t>/</a:t>
                      </a:r>
                      <a:r>
                        <a:rPr lang="zh-CN" altLang="en-US" sz="1100" dirty="0">
                          <a:effectLst/>
                        </a:rPr>
                        <a:t>罚没机制</a:t>
                      </a: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600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1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10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1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effectLst/>
                        </a:rPr>
                        <a:t>通过智能合约实现正向激励与逆向惩罚，绑定投票行为与经济后果（如提案通过奖励 </a:t>
                      </a:r>
                      <a:r>
                        <a:rPr lang="en-US" altLang="zh-CN" sz="1100">
                          <a:effectLst/>
                        </a:rPr>
                        <a:t>800 Token + 5 </a:t>
                      </a:r>
                      <a:r>
                        <a:rPr lang="zh-CN" altLang="en-US" sz="1100">
                          <a:effectLst/>
                        </a:rPr>
                        <a:t>信誉，反对者被罚）。</a:t>
                      </a: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E01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1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0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1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30089"/>
                  </a:ext>
                </a:extLst>
              </a:tr>
              <a:tr h="648680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effectLst/>
                        </a:rPr>
                        <a:t>可视化审计支持</a:t>
                      </a:r>
                      <a:endParaRPr lang="zh-CN" altLang="en-US" sz="1100" dirty="0">
                        <a:effectLst/>
                      </a:endParaRP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30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0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effectLst/>
                        </a:rPr>
                        <a:t>运维控制台 </a:t>
                      </a:r>
                      <a:r>
                        <a:rPr lang="en-US" altLang="zh-CN" sz="1100">
                          <a:effectLst/>
                        </a:rPr>
                        <a:t>+ </a:t>
                      </a:r>
                      <a:r>
                        <a:rPr lang="zh-CN" altLang="en-US" sz="1100">
                          <a:effectLst/>
                        </a:rPr>
                        <a:t>区块链浏览器</a:t>
                      </a: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30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B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1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B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effectLst/>
                        </a:rPr>
                        <a:t>前端展示 </a:t>
                      </a:r>
                      <a:r>
                        <a:rPr lang="en-US" altLang="zh-CN" sz="1100">
                          <a:effectLst/>
                        </a:rPr>
                        <a:t>SOP </a:t>
                      </a:r>
                      <a:r>
                        <a:rPr lang="zh-CN" altLang="en-US" sz="1100">
                          <a:effectLst/>
                        </a:rPr>
                        <a:t>状态、</a:t>
                      </a:r>
                      <a:r>
                        <a:rPr lang="en-US" altLang="zh-CN" sz="1100">
                          <a:effectLst/>
                        </a:rPr>
                        <a:t>Agent </a:t>
                      </a:r>
                      <a:r>
                        <a:rPr lang="zh-CN" altLang="en-US" sz="1100">
                          <a:effectLst/>
                        </a:rPr>
                        <a:t>经济数据、区块</a:t>
                      </a:r>
                      <a:r>
                        <a:rPr lang="en-US" altLang="zh-CN" sz="1100">
                          <a:effectLst/>
                        </a:rPr>
                        <a:t>/</a:t>
                      </a:r>
                      <a:r>
                        <a:rPr lang="zh-CN" altLang="en-US" sz="1100">
                          <a:effectLst/>
                        </a:rPr>
                        <a:t>交易详情，支持 </a:t>
                      </a:r>
                      <a:r>
                        <a:rPr lang="en-US" altLang="zh-CN" sz="1100">
                          <a:effectLst/>
                        </a:rPr>
                        <a:t>Merkle Proof </a:t>
                      </a:r>
                      <a:r>
                        <a:rPr lang="zh-CN" altLang="en-US" sz="1100">
                          <a:effectLst/>
                        </a:rPr>
                        <a:t>验证证据完整性。</a:t>
                      </a: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70B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1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18664"/>
                  </a:ext>
                </a:extLst>
              </a:tr>
              <a:tr h="354939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effectLst/>
                        </a:rPr>
                        <a:t>高效单机架构</a:t>
                      </a:r>
                      <a:endParaRPr lang="zh-CN" altLang="en-US" sz="1100">
                        <a:effectLst/>
                      </a:endParaRP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F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B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ffectLst/>
                        </a:rPr>
                        <a:t>内存存储 </a:t>
                      </a:r>
                      <a:r>
                        <a:rPr lang="en-US" altLang="zh-CN" sz="1100" dirty="0">
                          <a:effectLst/>
                        </a:rPr>
                        <a:t>+ </a:t>
                      </a:r>
                      <a:r>
                        <a:rPr lang="zh-CN" altLang="en-US" sz="1100" dirty="0">
                          <a:effectLst/>
                        </a:rPr>
                        <a:t>事件驱动</a:t>
                      </a: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F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B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effectLst/>
                        </a:rPr>
                        <a:t>便于开发调试、教学演示，无需分布式部署。</a:t>
                      </a: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30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340666"/>
                  </a:ext>
                </a:extLst>
              </a:tr>
              <a:tr h="942422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effectLst/>
                        </a:rPr>
                        <a:t>根因定位精度提升</a:t>
                      </a:r>
                      <a:endParaRPr lang="zh-CN" altLang="en-US" sz="1100">
                        <a:effectLst/>
                      </a:endParaRP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F0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ffectLst/>
                        </a:rPr>
                        <a:t>量化指标对比 </a:t>
                      </a:r>
                      <a:r>
                        <a:rPr lang="en-US" altLang="zh-CN" sz="1100" dirty="0">
                          <a:effectLst/>
                        </a:rPr>
                        <a:t>+ </a:t>
                      </a:r>
                      <a:r>
                        <a:rPr lang="zh-CN" altLang="en-US" sz="1100" dirty="0">
                          <a:effectLst/>
                        </a:rPr>
                        <a:t>下游验证</a:t>
                      </a: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F0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E1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ffectLst/>
                        </a:rPr>
                        <a:t>如在测试案例中准确定位 </a:t>
                      </a:r>
                      <a:r>
                        <a:rPr lang="en-US" sz="1100" dirty="0">
                          <a:effectLst/>
                        </a:rPr>
                        <a:t>food-buy（</a:t>
                      </a:r>
                      <a:r>
                        <a:rPr lang="zh-CN" altLang="en-US" sz="1100" dirty="0">
                          <a:effectLst/>
                        </a:rPr>
                        <a:t>错误率 </a:t>
                      </a:r>
                      <a:r>
                        <a:rPr lang="en-US" altLang="zh-CN" sz="1100" dirty="0">
                          <a:effectLst/>
                        </a:rPr>
                        <a:t>100%</a:t>
                      </a:r>
                      <a:r>
                        <a:rPr lang="zh-CN" altLang="en-US" sz="1100" dirty="0">
                          <a:effectLst/>
                        </a:rPr>
                        <a:t>，响应时间 </a:t>
                      </a:r>
                      <a:r>
                        <a:rPr lang="en-US" altLang="zh-CN" sz="1100" dirty="0">
                          <a:effectLst/>
                        </a:rPr>
                        <a:t>22220</a:t>
                      </a:r>
                      <a:r>
                        <a:rPr lang="en-US" sz="1100" dirty="0">
                          <a:effectLst/>
                        </a:rPr>
                        <a:t>ms），</a:t>
                      </a:r>
                      <a:r>
                        <a:rPr lang="zh-CN" altLang="en-US" sz="1100" dirty="0">
                          <a:effectLst/>
                        </a:rPr>
                        <a:t>并通过 </a:t>
                      </a:r>
                      <a:r>
                        <a:rPr lang="en-US" sz="1100" dirty="0">
                          <a:effectLst/>
                        </a:rPr>
                        <a:t>food-cancel </a:t>
                      </a:r>
                      <a:r>
                        <a:rPr lang="zh-CN" altLang="en-US" sz="1100" dirty="0">
                          <a:effectLst/>
                        </a:rPr>
                        <a:t>正常指标反证，避免幻觉。</a:t>
                      </a: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F0E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759676"/>
                  </a:ext>
                </a:extLst>
              </a:tr>
              <a:tr h="795552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effectLst/>
                        </a:rPr>
                        <a:t>解决方案工程师优化</a:t>
                      </a:r>
                      <a:endParaRPr lang="zh-CN" altLang="en-US" sz="1100">
                        <a:effectLst/>
                      </a:endParaRP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F0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effectLst/>
                        </a:rPr>
                        <a:t>结构化修复步骤</a:t>
                      </a: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F0C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ffectLst/>
                        </a:rPr>
                        <a:t>生成 </a:t>
                      </a:r>
                      <a:r>
                        <a:rPr lang="en-US" altLang="zh-CN" sz="1100" dirty="0">
                          <a:effectLst/>
                        </a:rPr>
                        <a:t>7 </a:t>
                      </a:r>
                      <a:r>
                        <a:rPr lang="zh-CN" altLang="en-US" sz="1100" dirty="0">
                          <a:effectLst/>
                        </a:rPr>
                        <a:t>步可操作修复指南（如检查资源、分析日志、优化 </a:t>
                      </a:r>
                      <a:r>
                        <a:rPr lang="en-US" altLang="zh-CN" sz="1100" dirty="0">
                          <a:effectLst/>
                        </a:rPr>
                        <a:t>SQL</a:t>
                      </a:r>
                      <a:r>
                        <a:rPr lang="zh-CN" altLang="en-US" sz="1100" dirty="0">
                          <a:effectLst/>
                        </a:rPr>
                        <a:t>、重启服务等），远超原论文的模糊建议。</a:t>
                      </a:r>
                    </a:p>
                  </a:txBody>
                  <a:tcPr marL="41677" marR="41677" marT="19235" marB="19235" anchor="ctr">
                    <a:lnL w="12700" cap="flat" cmpd="sng" algn="ctr">
                      <a:solidFill>
                        <a:srgbClr val="70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1584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6" r="6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7B8C9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516</Words>
  <Application>Microsoft Office PowerPoint</Application>
  <PresentationFormat>全屏显示(16:9)</PresentationFormat>
  <Paragraphs>66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韩宇 毛</cp:lastModifiedBy>
  <cp:revision>3</cp:revision>
  <dcterms:created xsi:type="dcterms:W3CDTF">2025-12-26T11:54:34Z</dcterms:created>
  <dcterms:modified xsi:type="dcterms:W3CDTF">2025-12-26T12:10:23Z</dcterms:modified>
</cp:coreProperties>
</file>