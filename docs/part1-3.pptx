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11"/>
  </p:notesMasterIdLst>
  <p:sldIdLst>
    <p:sldId id="356" r:id="rId4"/>
    <p:sldId id="347" r:id="rId5"/>
    <p:sldId id="315" r:id="rId6"/>
    <p:sldId id="260" r:id="rId7"/>
    <p:sldId id="357" r:id="rId8"/>
    <p:sldId id="310" r:id="rId9"/>
    <p:sldId id="34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7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120" y="1800"/>
      </p:cViewPr>
      <p:guideLst>
        <p:guide orient="horz" pos="25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CBB24084-5D13-40D7-B877-E47BE1E73B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2288" y="2064492"/>
            <a:ext cx="2955610" cy="37532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gradFill>
              <a:gsLst>
                <a:gs pos="0">
                  <a:schemeClr val="bg1">
                    <a:alpha val="59000"/>
                  </a:schemeClr>
                </a:gs>
                <a:gs pos="100000">
                  <a:schemeClr val="bg1">
                    <a:alpha val="17000"/>
                  </a:schemeClr>
                </a:gs>
              </a:gsLst>
              <a:lin ang="78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54A41B6F-0B5A-4314-8E6A-AA3960BCF10F}"/>
              </a:ext>
            </a:extLst>
          </p:cNvPr>
          <p:cNvGrpSpPr/>
          <p:nvPr userDrawn="1"/>
        </p:nvGrpSpPr>
        <p:grpSpPr>
          <a:xfrm>
            <a:off x="729449" y="1780758"/>
            <a:ext cx="2449180" cy="4305530"/>
            <a:chOff x="445712" y="1449040"/>
            <a:chExt cx="2113018" cy="3924176"/>
          </a:xfrm>
        </p:grpSpPr>
        <p:sp>
          <p:nvSpPr>
            <p:cNvPr id="6" name="Rounded Rectangle 4">
              <a:extLst>
                <a:ext uri="{FF2B5EF4-FFF2-40B4-BE49-F238E27FC236}">
                  <a16:creationId xmlns:a16="http://schemas.microsoft.com/office/drawing/2014/main" id="{703E15B8-6CE8-4239-8540-4DB466536A91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39CA128A-BAAF-43EE-A61E-48F072F23C46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9AFF85CE-C02B-4B53-AFD3-06E942BAC819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" name="Oval 7">
                <a:extLst>
                  <a:ext uri="{FF2B5EF4-FFF2-40B4-BE49-F238E27FC236}">
                    <a16:creationId xmlns:a16="http://schemas.microsoft.com/office/drawing/2014/main" id="{F77DADA6-39EA-4F49-BF69-B54981F43A93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0" name="Rounded Rectangle 8">
                <a:extLst>
                  <a:ext uri="{FF2B5EF4-FFF2-40B4-BE49-F238E27FC236}">
                    <a16:creationId xmlns:a16="http://schemas.microsoft.com/office/drawing/2014/main" id="{414D168B-29C2-4210-B545-06CBEEFEF1C5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E6B1B6C-6A71-4B3B-A6B5-56A8DB4074E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877656" y="2102271"/>
            <a:ext cx="2152765" cy="3562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AACC8C0-0D02-450C-A4FB-05C1A86E40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47474-984A-4090-AC20-98242EB09510}"/>
              </a:ext>
            </a:extLst>
          </p:cNvPr>
          <p:cNvSpPr/>
          <p:nvPr userDrawn="1"/>
        </p:nvSpPr>
        <p:spPr>
          <a:xfrm>
            <a:off x="0" y="1988840"/>
            <a:ext cx="12192000" cy="28803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30F240-0CAF-4377-8C66-C79A9700127F}"/>
              </a:ext>
            </a:extLst>
          </p:cNvPr>
          <p:cNvSpPr/>
          <p:nvPr userDrawn="1"/>
        </p:nvSpPr>
        <p:spPr>
          <a:xfrm>
            <a:off x="6925208" y="5035013"/>
            <a:ext cx="4431324" cy="44887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4" name="Graphic 14">
            <a:extLst>
              <a:ext uri="{FF2B5EF4-FFF2-40B4-BE49-F238E27FC236}">
                <a16:creationId xmlns:a16="http://schemas.microsoft.com/office/drawing/2014/main" id="{09D52290-FED8-432E-A9AF-895F42C29BF1}"/>
              </a:ext>
            </a:extLst>
          </p:cNvPr>
          <p:cNvGrpSpPr/>
          <p:nvPr userDrawn="1"/>
        </p:nvGrpSpPr>
        <p:grpSpPr>
          <a:xfrm>
            <a:off x="6859251" y="1585382"/>
            <a:ext cx="4568370" cy="3687236"/>
            <a:chOff x="2444748" y="555045"/>
            <a:chExt cx="7282048" cy="5727454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DF2C3D3-4FC4-450E-A75F-6CA28E9A260C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155DD87-3668-41CD-B8FE-F7680E231E68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24015-CBFE-4CE0-8A31-5115F8BF1167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E3E8073-D26E-4946-A0FB-859AFD2C5919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CFD02F-04CF-4A4F-B2ED-42A6C2D5743E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5426560-F548-478A-8C28-622AA658C2FC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4F41FF2-11EF-4478-BD9D-633C60DB9873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13A2F72-37C9-40A6-AB61-B60154A9A232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F356DA8-6399-4BA3-920F-87F949C1BAE2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004813" y="1717989"/>
            <a:ext cx="4255842" cy="25889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70C11E2-F55D-4B43-8F26-02B3875E4F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85C5121-D524-4FA3-827E-5E1FC7C84C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9" r:id="rId14"/>
    <p:sldLayoutId id="2147483688" r:id="rId15"/>
    <p:sldLayoutId id="2147483687" r:id="rId16"/>
    <p:sldLayoutId id="2147483671" r:id="rId17"/>
    <p:sldLayoutId id="2147483672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B4C724-0776-4328-8F0A-B72DA1579537}"/>
              </a:ext>
            </a:extLst>
          </p:cNvPr>
          <p:cNvSpPr txBox="1"/>
          <p:nvPr/>
        </p:nvSpPr>
        <p:spPr>
          <a:xfrm>
            <a:off x="1" y="4636482"/>
            <a:ext cx="1219199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800" dirty="0">
                <a:solidFill>
                  <a:schemeClr val="bg1"/>
                </a:solidFill>
                <a:latin typeface="+mj-lt"/>
              </a:rPr>
              <a:t>基于区块链的多智能体运维根因分析框架</a:t>
            </a:r>
            <a:endParaRPr lang="ko-KR" altLang="en-US" sz="48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6167FF-AD5E-41E4-8385-3024DC936CF2}"/>
              </a:ext>
            </a:extLst>
          </p:cNvPr>
          <p:cNvSpPr txBox="1"/>
          <p:nvPr/>
        </p:nvSpPr>
        <p:spPr>
          <a:xfrm>
            <a:off x="2472690" y="5752889"/>
            <a:ext cx="7246620" cy="6669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2350284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张俊峰、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2351041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刘浩田、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2351131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韦世贸、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2354090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王家睿、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2353731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毛韩宇、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2354284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胡永杰、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2351143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吕奎辰、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2352031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古振</a:t>
            </a:r>
          </a:p>
        </p:txBody>
      </p:sp>
    </p:spTree>
    <p:extLst>
      <p:ext uri="{BB962C8B-B14F-4D97-AF65-F5344CB8AC3E}">
        <p14:creationId xmlns:p14="http://schemas.microsoft.com/office/powerpoint/2010/main" val="2637474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740317" y="759042"/>
            <a:ext cx="343988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content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556014-99F2-413F-BA74-B604762B66FA}"/>
              </a:ext>
            </a:extLst>
          </p:cNvPr>
          <p:cNvGrpSpPr/>
          <p:nvPr/>
        </p:nvGrpSpPr>
        <p:grpSpPr>
          <a:xfrm flipV="1">
            <a:off x="3642230" y="895350"/>
            <a:ext cx="7919927" cy="5200650"/>
            <a:chOff x="2995646" y="448561"/>
            <a:chExt cx="8566511" cy="591946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D014B18-BA7E-475C-B97A-1C458E8F36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1457" y="448561"/>
              <a:ext cx="0" cy="4873075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59A2D06-9F89-464F-98C2-9BABA2CE2E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1457" y="477136"/>
              <a:ext cx="7181650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256552C-DCF3-4A68-B9A4-645E85E69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3107" y="448561"/>
              <a:ext cx="0" cy="5896218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9EDD73A-0B0E-4B3D-BB0A-254E6E118D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95646" y="6354750"/>
              <a:ext cx="8566511" cy="13272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C13879F-D3DB-463F-BF1F-003E841B15E9}"/>
              </a:ext>
            </a:extLst>
          </p:cNvPr>
          <p:cNvSpPr/>
          <p:nvPr/>
        </p:nvSpPr>
        <p:spPr>
          <a:xfrm>
            <a:off x="4563871" y="1527679"/>
            <a:ext cx="682161" cy="682161"/>
          </a:xfrm>
          <a:prstGeom prst="rect">
            <a:avLst/>
          </a:prstGeom>
          <a:solidFill>
            <a:schemeClr val="accent1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36AA1E-6C24-4A66-AAB7-35782BD9DEDB}"/>
              </a:ext>
            </a:extLst>
          </p:cNvPr>
          <p:cNvSpPr/>
          <p:nvPr/>
        </p:nvSpPr>
        <p:spPr>
          <a:xfrm>
            <a:off x="4563871" y="2662622"/>
            <a:ext cx="682161" cy="682161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2BD605-3547-4DD5-A740-98710E11C632}"/>
              </a:ext>
            </a:extLst>
          </p:cNvPr>
          <p:cNvSpPr/>
          <p:nvPr/>
        </p:nvSpPr>
        <p:spPr>
          <a:xfrm>
            <a:off x="4563871" y="3797565"/>
            <a:ext cx="682161" cy="682161"/>
          </a:xfrm>
          <a:prstGeom prst="rect">
            <a:avLst/>
          </a:prstGeom>
          <a:solidFill>
            <a:schemeClr val="accent3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ED01D0-912E-4294-B392-81E77C41E575}"/>
              </a:ext>
            </a:extLst>
          </p:cNvPr>
          <p:cNvSpPr/>
          <p:nvPr/>
        </p:nvSpPr>
        <p:spPr>
          <a:xfrm>
            <a:off x="4563871" y="4932508"/>
            <a:ext cx="682161" cy="682161"/>
          </a:xfrm>
          <a:prstGeom prst="rect">
            <a:avLst/>
          </a:prstGeom>
          <a:solidFill>
            <a:schemeClr val="accent4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323EF9-0205-4F9F-B8A5-5E090FAAA34A}"/>
              </a:ext>
            </a:extLst>
          </p:cNvPr>
          <p:cNvSpPr txBox="1"/>
          <p:nvPr/>
        </p:nvSpPr>
        <p:spPr>
          <a:xfrm>
            <a:off x="4563871" y="1636205"/>
            <a:ext cx="68216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ACC078-23C6-4647-8F57-42B1FBF321FC}"/>
              </a:ext>
            </a:extLst>
          </p:cNvPr>
          <p:cNvSpPr txBox="1"/>
          <p:nvPr/>
        </p:nvSpPr>
        <p:spPr>
          <a:xfrm>
            <a:off x="4563871" y="2775123"/>
            <a:ext cx="68216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2A56DB-EE39-4CB4-B347-86EF0DCB3AF7}"/>
              </a:ext>
            </a:extLst>
          </p:cNvPr>
          <p:cNvSpPr txBox="1"/>
          <p:nvPr/>
        </p:nvSpPr>
        <p:spPr>
          <a:xfrm>
            <a:off x="4563871" y="3914041"/>
            <a:ext cx="68216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BED384-120E-4CE6-9BEB-99332F464629}"/>
              </a:ext>
            </a:extLst>
          </p:cNvPr>
          <p:cNvSpPr txBox="1"/>
          <p:nvPr/>
        </p:nvSpPr>
        <p:spPr>
          <a:xfrm>
            <a:off x="4563871" y="5052958"/>
            <a:ext cx="68216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237A53-2FA2-41CA-A145-17EF09ABAB64}"/>
              </a:ext>
            </a:extLst>
          </p:cNvPr>
          <p:cNvSpPr txBox="1"/>
          <p:nvPr/>
        </p:nvSpPr>
        <p:spPr>
          <a:xfrm>
            <a:off x="5696570" y="1555868"/>
            <a:ext cx="5433857" cy="5078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cs typeface="Arial" pitchFamily="34" charset="0"/>
              </a:rPr>
              <a:t>背景与目的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E936BF-B642-4621-A95A-690790C2325E}"/>
              </a:ext>
            </a:extLst>
          </p:cNvPr>
          <p:cNvSpPr txBox="1"/>
          <p:nvPr/>
        </p:nvSpPr>
        <p:spPr>
          <a:xfrm>
            <a:off x="5708712" y="2749786"/>
            <a:ext cx="5433857" cy="5078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cs typeface="Arial" pitchFamily="34" charset="0"/>
              </a:rPr>
              <a:t>论文的实现方案与创新点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33624B-C3F6-47AA-8AD1-38868154757D}"/>
              </a:ext>
            </a:extLst>
          </p:cNvPr>
          <p:cNvSpPr txBox="1"/>
          <p:nvPr/>
        </p:nvSpPr>
        <p:spPr>
          <a:xfrm>
            <a:off x="5708711" y="3941535"/>
            <a:ext cx="5433857" cy="5078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700" b="1" dirty="0">
                <a:solidFill>
                  <a:schemeClr val="bg1"/>
                </a:solidFill>
                <a:cs typeface="Arial" pitchFamily="34" charset="0"/>
              </a:rPr>
              <a:t>Contents Here</a:t>
            </a:r>
            <a:endParaRPr lang="ko-KR" altLang="en-US" sz="27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E48A28-ACC0-4F50-BDD7-ED1FE4C66465}"/>
              </a:ext>
            </a:extLst>
          </p:cNvPr>
          <p:cNvSpPr txBox="1"/>
          <p:nvPr/>
        </p:nvSpPr>
        <p:spPr>
          <a:xfrm>
            <a:off x="5708711" y="5008794"/>
            <a:ext cx="5433857" cy="5078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700" b="1" dirty="0">
                <a:solidFill>
                  <a:schemeClr val="bg1"/>
                </a:solidFill>
                <a:cs typeface="Arial" pitchFamily="34" charset="0"/>
              </a:rPr>
              <a:t>Contents Here</a:t>
            </a:r>
            <a:endParaRPr lang="ko-KR" altLang="en-US" sz="27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D4E8CE7-5D30-4C46-BFB0-3CFC42311CA8}"/>
              </a:ext>
            </a:extLst>
          </p:cNvPr>
          <p:cNvSpPr/>
          <p:nvPr/>
        </p:nvSpPr>
        <p:spPr>
          <a:xfrm>
            <a:off x="3531173" y="839821"/>
            <a:ext cx="111057" cy="11105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075F731-8EC2-45F5-AB53-9C43A54ACEFD}"/>
              </a:ext>
            </a:extLst>
          </p:cNvPr>
          <p:cNvGrpSpPr/>
          <p:nvPr/>
        </p:nvGrpSpPr>
        <p:grpSpPr>
          <a:xfrm>
            <a:off x="4506280" y="1724025"/>
            <a:ext cx="3179442" cy="4526856"/>
            <a:chOff x="348360" y="1332374"/>
            <a:chExt cx="2545698" cy="369087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55DDA86-7877-4844-ACF4-638691F40972}"/>
                </a:ext>
              </a:extLst>
            </p:cNvPr>
            <p:cNvGrpSpPr/>
            <p:nvPr/>
          </p:nvGrpSpPr>
          <p:grpSpPr>
            <a:xfrm>
              <a:off x="348360" y="4335070"/>
              <a:ext cx="2545698" cy="688177"/>
              <a:chOff x="348360" y="4335070"/>
              <a:chExt cx="2545698" cy="688177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0F34FC23-4635-40C8-AFC5-94EF0158CBCD}"/>
                  </a:ext>
                </a:extLst>
              </p:cNvPr>
              <p:cNvSpPr/>
              <p:nvPr/>
            </p:nvSpPr>
            <p:spPr>
              <a:xfrm rot="358729">
                <a:off x="348360" y="4422214"/>
                <a:ext cx="2379133" cy="601033"/>
              </a:xfrm>
              <a:custGeom>
                <a:avLst/>
                <a:gdLst>
                  <a:gd name="connsiteX0" fmla="*/ 0 w 1546076"/>
                  <a:gd name="connsiteY0" fmla="*/ 0 h 547777"/>
                  <a:gd name="connsiteX1" fmla="*/ 1546076 w 1546076"/>
                  <a:gd name="connsiteY1" fmla="*/ 0 h 547777"/>
                  <a:gd name="connsiteX2" fmla="*/ 1546076 w 1546076"/>
                  <a:gd name="connsiteY2" fmla="*/ 547777 h 547777"/>
                  <a:gd name="connsiteX3" fmla="*/ 0 w 1546076"/>
                  <a:gd name="connsiteY3" fmla="*/ 547777 h 547777"/>
                  <a:gd name="connsiteX4" fmla="*/ 0 w 1546076"/>
                  <a:gd name="connsiteY4" fmla="*/ 0 h 547777"/>
                  <a:gd name="connsiteX0" fmla="*/ 0 w 1546076"/>
                  <a:gd name="connsiteY0" fmla="*/ 0 h 547777"/>
                  <a:gd name="connsiteX1" fmla="*/ 1546076 w 1546076"/>
                  <a:gd name="connsiteY1" fmla="*/ 0 h 547777"/>
                  <a:gd name="connsiteX2" fmla="*/ 1300823 w 1546076"/>
                  <a:gd name="connsiteY2" fmla="*/ 473861 h 547777"/>
                  <a:gd name="connsiteX3" fmla="*/ 0 w 1546076"/>
                  <a:gd name="connsiteY3" fmla="*/ 547777 h 547777"/>
                  <a:gd name="connsiteX4" fmla="*/ 0 w 1546076"/>
                  <a:gd name="connsiteY4" fmla="*/ 0 h 547777"/>
                  <a:gd name="connsiteX0" fmla="*/ 311437 w 1546076"/>
                  <a:gd name="connsiteY0" fmla="*/ 120616 h 547777"/>
                  <a:gd name="connsiteX1" fmla="*/ 1546076 w 1546076"/>
                  <a:gd name="connsiteY1" fmla="*/ 0 h 547777"/>
                  <a:gd name="connsiteX2" fmla="*/ 1300823 w 1546076"/>
                  <a:gd name="connsiteY2" fmla="*/ 473861 h 547777"/>
                  <a:gd name="connsiteX3" fmla="*/ 0 w 1546076"/>
                  <a:gd name="connsiteY3" fmla="*/ 547777 h 547777"/>
                  <a:gd name="connsiteX4" fmla="*/ 311437 w 1546076"/>
                  <a:gd name="connsiteY4" fmla="*/ 120616 h 547777"/>
                  <a:gd name="connsiteX0" fmla="*/ 454636 w 1546076"/>
                  <a:gd name="connsiteY0" fmla="*/ 97957 h 547777"/>
                  <a:gd name="connsiteX1" fmla="*/ 1546076 w 1546076"/>
                  <a:gd name="connsiteY1" fmla="*/ 0 h 547777"/>
                  <a:gd name="connsiteX2" fmla="*/ 1300823 w 1546076"/>
                  <a:gd name="connsiteY2" fmla="*/ 473861 h 547777"/>
                  <a:gd name="connsiteX3" fmla="*/ 0 w 1546076"/>
                  <a:gd name="connsiteY3" fmla="*/ 547777 h 547777"/>
                  <a:gd name="connsiteX4" fmla="*/ 454636 w 1546076"/>
                  <a:gd name="connsiteY4" fmla="*/ 97957 h 547777"/>
                  <a:gd name="connsiteX0" fmla="*/ 454636 w 1714392"/>
                  <a:gd name="connsiteY0" fmla="*/ 100262 h 550082"/>
                  <a:gd name="connsiteX1" fmla="*/ 1714392 w 1714392"/>
                  <a:gd name="connsiteY1" fmla="*/ 0 h 550082"/>
                  <a:gd name="connsiteX2" fmla="*/ 1300823 w 1714392"/>
                  <a:gd name="connsiteY2" fmla="*/ 476166 h 550082"/>
                  <a:gd name="connsiteX3" fmla="*/ 0 w 1714392"/>
                  <a:gd name="connsiteY3" fmla="*/ 550082 h 550082"/>
                  <a:gd name="connsiteX4" fmla="*/ 454636 w 1714392"/>
                  <a:gd name="connsiteY4" fmla="*/ 100262 h 550082"/>
                  <a:gd name="connsiteX0" fmla="*/ 454636 w 1908260"/>
                  <a:gd name="connsiteY0" fmla="*/ 151213 h 601033"/>
                  <a:gd name="connsiteX1" fmla="*/ 1908260 w 1908260"/>
                  <a:gd name="connsiteY1" fmla="*/ 0 h 601033"/>
                  <a:gd name="connsiteX2" fmla="*/ 1300823 w 1908260"/>
                  <a:gd name="connsiteY2" fmla="*/ 527117 h 601033"/>
                  <a:gd name="connsiteX3" fmla="*/ 0 w 1908260"/>
                  <a:gd name="connsiteY3" fmla="*/ 601033 h 601033"/>
                  <a:gd name="connsiteX4" fmla="*/ 454636 w 1908260"/>
                  <a:gd name="connsiteY4" fmla="*/ 151213 h 601033"/>
                  <a:gd name="connsiteX0" fmla="*/ 675642 w 1908260"/>
                  <a:gd name="connsiteY0" fmla="*/ 66773 h 601033"/>
                  <a:gd name="connsiteX1" fmla="*/ 1908260 w 1908260"/>
                  <a:gd name="connsiteY1" fmla="*/ 0 h 601033"/>
                  <a:gd name="connsiteX2" fmla="*/ 1300823 w 1908260"/>
                  <a:gd name="connsiteY2" fmla="*/ 527117 h 601033"/>
                  <a:gd name="connsiteX3" fmla="*/ 0 w 1908260"/>
                  <a:gd name="connsiteY3" fmla="*/ 601033 h 601033"/>
                  <a:gd name="connsiteX4" fmla="*/ 675642 w 1908260"/>
                  <a:gd name="connsiteY4" fmla="*/ 66773 h 60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8260" h="601033">
                    <a:moveTo>
                      <a:pt x="675642" y="66773"/>
                    </a:moveTo>
                    <a:lnTo>
                      <a:pt x="1908260" y="0"/>
                    </a:lnTo>
                    <a:lnTo>
                      <a:pt x="1300823" y="527117"/>
                    </a:lnTo>
                    <a:lnTo>
                      <a:pt x="0" y="601033"/>
                    </a:lnTo>
                    <a:lnTo>
                      <a:pt x="675642" y="66773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softEdge rad="1524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1" name="Rectangle 7">
                <a:extLst>
                  <a:ext uri="{FF2B5EF4-FFF2-40B4-BE49-F238E27FC236}">
                    <a16:creationId xmlns:a16="http://schemas.microsoft.com/office/drawing/2014/main" id="{3ECCAD27-99CA-4072-8D2B-8C43FA3B4B47}"/>
                  </a:ext>
                </a:extLst>
              </p:cNvPr>
              <p:cNvSpPr/>
              <p:nvPr/>
            </p:nvSpPr>
            <p:spPr>
              <a:xfrm rot="358729">
                <a:off x="809437" y="4335070"/>
                <a:ext cx="2084621" cy="526631"/>
              </a:xfrm>
              <a:custGeom>
                <a:avLst/>
                <a:gdLst>
                  <a:gd name="connsiteX0" fmla="*/ 0 w 1546076"/>
                  <a:gd name="connsiteY0" fmla="*/ 0 h 547777"/>
                  <a:gd name="connsiteX1" fmla="*/ 1546076 w 1546076"/>
                  <a:gd name="connsiteY1" fmla="*/ 0 h 547777"/>
                  <a:gd name="connsiteX2" fmla="*/ 1546076 w 1546076"/>
                  <a:gd name="connsiteY2" fmla="*/ 547777 h 547777"/>
                  <a:gd name="connsiteX3" fmla="*/ 0 w 1546076"/>
                  <a:gd name="connsiteY3" fmla="*/ 547777 h 547777"/>
                  <a:gd name="connsiteX4" fmla="*/ 0 w 1546076"/>
                  <a:gd name="connsiteY4" fmla="*/ 0 h 547777"/>
                  <a:gd name="connsiteX0" fmla="*/ 0 w 1546076"/>
                  <a:gd name="connsiteY0" fmla="*/ 0 h 547777"/>
                  <a:gd name="connsiteX1" fmla="*/ 1546076 w 1546076"/>
                  <a:gd name="connsiteY1" fmla="*/ 0 h 547777"/>
                  <a:gd name="connsiteX2" fmla="*/ 1300823 w 1546076"/>
                  <a:gd name="connsiteY2" fmla="*/ 473861 h 547777"/>
                  <a:gd name="connsiteX3" fmla="*/ 0 w 1546076"/>
                  <a:gd name="connsiteY3" fmla="*/ 547777 h 547777"/>
                  <a:gd name="connsiteX4" fmla="*/ 0 w 1546076"/>
                  <a:gd name="connsiteY4" fmla="*/ 0 h 547777"/>
                  <a:gd name="connsiteX0" fmla="*/ 311437 w 1546076"/>
                  <a:gd name="connsiteY0" fmla="*/ 120616 h 547777"/>
                  <a:gd name="connsiteX1" fmla="*/ 1546076 w 1546076"/>
                  <a:gd name="connsiteY1" fmla="*/ 0 h 547777"/>
                  <a:gd name="connsiteX2" fmla="*/ 1300823 w 1546076"/>
                  <a:gd name="connsiteY2" fmla="*/ 473861 h 547777"/>
                  <a:gd name="connsiteX3" fmla="*/ 0 w 1546076"/>
                  <a:gd name="connsiteY3" fmla="*/ 547777 h 547777"/>
                  <a:gd name="connsiteX4" fmla="*/ 311437 w 1546076"/>
                  <a:gd name="connsiteY4" fmla="*/ 120616 h 547777"/>
                  <a:gd name="connsiteX0" fmla="*/ 454636 w 1546076"/>
                  <a:gd name="connsiteY0" fmla="*/ 97957 h 547777"/>
                  <a:gd name="connsiteX1" fmla="*/ 1546076 w 1546076"/>
                  <a:gd name="connsiteY1" fmla="*/ 0 h 547777"/>
                  <a:gd name="connsiteX2" fmla="*/ 1300823 w 1546076"/>
                  <a:gd name="connsiteY2" fmla="*/ 473861 h 547777"/>
                  <a:gd name="connsiteX3" fmla="*/ 0 w 1546076"/>
                  <a:gd name="connsiteY3" fmla="*/ 547777 h 547777"/>
                  <a:gd name="connsiteX4" fmla="*/ 454636 w 1546076"/>
                  <a:gd name="connsiteY4" fmla="*/ 97957 h 547777"/>
                  <a:gd name="connsiteX0" fmla="*/ 454636 w 1714392"/>
                  <a:gd name="connsiteY0" fmla="*/ 100262 h 550082"/>
                  <a:gd name="connsiteX1" fmla="*/ 1714392 w 1714392"/>
                  <a:gd name="connsiteY1" fmla="*/ 0 h 550082"/>
                  <a:gd name="connsiteX2" fmla="*/ 1300823 w 1714392"/>
                  <a:gd name="connsiteY2" fmla="*/ 476166 h 550082"/>
                  <a:gd name="connsiteX3" fmla="*/ 0 w 1714392"/>
                  <a:gd name="connsiteY3" fmla="*/ 550082 h 550082"/>
                  <a:gd name="connsiteX4" fmla="*/ 454636 w 1714392"/>
                  <a:gd name="connsiteY4" fmla="*/ 100262 h 550082"/>
                  <a:gd name="connsiteX0" fmla="*/ 454636 w 1908260"/>
                  <a:gd name="connsiteY0" fmla="*/ 151213 h 601033"/>
                  <a:gd name="connsiteX1" fmla="*/ 1908260 w 1908260"/>
                  <a:gd name="connsiteY1" fmla="*/ 0 h 601033"/>
                  <a:gd name="connsiteX2" fmla="*/ 1300823 w 1908260"/>
                  <a:gd name="connsiteY2" fmla="*/ 527117 h 601033"/>
                  <a:gd name="connsiteX3" fmla="*/ 0 w 1908260"/>
                  <a:gd name="connsiteY3" fmla="*/ 601033 h 601033"/>
                  <a:gd name="connsiteX4" fmla="*/ 454636 w 1908260"/>
                  <a:gd name="connsiteY4" fmla="*/ 151213 h 601033"/>
                  <a:gd name="connsiteX0" fmla="*/ 675642 w 1908260"/>
                  <a:gd name="connsiteY0" fmla="*/ 66773 h 601033"/>
                  <a:gd name="connsiteX1" fmla="*/ 1908260 w 1908260"/>
                  <a:gd name="connsiteY1" fmla="*/ 0 h 601033"/>
                  <a:gd name="connsiteX2" fmla="*/ 1300823 w 1908260"/>
                  <a:gd name="connsiteY2" fmla="*/ 527117 h 601033"/>
                  <a:gd name="connsiteX3" fmla="*/ 0 w 1908260"/>
                  <a:gd name="connsiteY3" fmla="*/ 601033 h 601033"/>
                  <a:gd name="connsiteX4" fmla="*/ 675642 w 1908260"/>
                  <a:gd name="connsiteY4" fmla="*/ 66773 h 60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8260" h="601033">
                    <a:moveTo>
                      <a:pt x="675642" y="66773"/>
                    </a:moveTo>
                    <a:lnTo>
                      <a:pt x="1908260" y="0"/>
                    </a:lnTo>
                    <a:lnTo>
                      <a:pt x="1300823" y="527117"/>
                    </a:lnTo>
                    <a:lnTo>
                      <a:pt x="0" y="601033"/>
                    </a:lnTo>
                    <a:lnTo>
                      <a:pt x="675642" y="66773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softEdge rad="1524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86C6F74-8E05-40C1-A142-F8EFE2C379A2}"/>
                </a:ext>
              </a:extLst>
            </p:cNvPr>
            <p:cNvGrpSpPr/>
            <p:nvPr/>
          </p:nvGrpSpPr>
          <p:grpSpPr>
            <a:xfrm>
              <a:off x="933500" y="1332374"/>
              <a:ext cx="1262236" cy="3479244"/>
              <a:chOff x="1619672" y="1332374"/>
              <a:chExt cx="1262236" cy="347924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2492343-A84D-4502-8C0A-C2D199B17873}"/>
                  </a:ext>
                </a:extLst>
              </p:cNvPr>
              <p:cNvSpPr/>
              <p:nvPr/>
            </p:nvSpPr>
            <p:spPr>
              <a:xfrm>
                <a:off x="1691680" y="3947522"/>
                <a:ext cx="864096" cy="86409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scene3d>
                <a:camera prst="perspectiveRight">
                  <a:rot lat="598412" lon="1237643" rev="0"/>
                </a:camera>
                <a:lightRig rig="threePt" dir="t"/>
              </a:scene3d>
              <a:sp3d extrusionH="819150" prstMaterial="flat">
                <a:bevelT w="44450" h="25400"/>
                <a:extrusionClr>
                  <a:schemeClr val="accent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5400" b="1" spc="50" dirty="0">
                    <a:ln w="13500">
                      <a:solidFill>
                        <a:schemeClr val="accent1">
                          <a:shade val="2500"/>
                          <a:alpha val="65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innerShdw blurRad="50900" dist="38500" dir="13500000">
                        <a:srgbClr val="000000">
                          <a:alpha val="60000"/>
                        </a:srgbClr>
                      </a:innerShdw>
                    </a:effectLst>
                    <a:cs typeface="Arial" pitchFamily="34" charset="0"/>
                  </a:rPr>
                  <a:t>D</a:t>
                </a:r>
                <a:endParaRPr lang="ko-KR" altLang="en-US" sz="5400" b="1" spc="50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innerShdw blurRad="50900" dist="38500" dir="13500000">
                      <a:srgbClr val="000000">
                        <a:alpha val="60000"/>
                      </a:srgbClr>
                    </a:innerShdw>
                  </a:effectLst>
                  <a:cs typeface="Arial" pitchFamily="34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6452E81-FFB4-43B9-B01E-C89340506D8C}"/>
                  </a:ext>
                </a:extLst>
              </p:cNvPr>
              <p:cNvSpPr/>
              <p:nvPr/>
            </p:nvSpPr>
            <p:spPr>
              <a:xfrm>
                <a:off x="2017812" y="3077696"/>
                <a:ext cx="864096" cy="8640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perspectiveRight">
                  <a:rot lat="300000" lon="20699968" rev="0"/>
                </a:camera>
                <a:lightRig rig="threePt" dir="t"/>
              </a:scene3d>
              <a:sp3d extrusionH="819150" prstMaterial="flat">
                <a:bevelT w="44450" h="44450"/>
                <a:extrusionClr>
                  <a:schemeClr val="accent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5400" b="1" spc="50" dirty="0">
                    <a:ln w="13500">
                      <a:solidFill>
                        <a:schemeClr val="accent1">
                          <a:shade val="2500"/>
                          <a:alpha val="65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innerShdw blurRad="50900" dist="38500" dir="13500000">
                        <a:srgbClr val="000000">
                          <a:alpha val="60000"/>
                        </a:srgbClr>
                      </a:innerShdw>
                    </a:effectLst>
                    <a:cs typeface="Arial" pitchFamily="34" charset="0"/>
                  </a:rPr>
                  <a:t>C</a:t>
                </a:r>
                <a:endParaRPr lang="ko-KR" altLang="en-US" sz="5400" b="1" spc="50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innerShdw blurRad="50900" dist="38500" dir="13500000">
                      <a:srgbClr val="000000">
                        <a:alpha val="60000"/>
                      </a:srgbClr>
                    </a:innerShdw>
                  </a:effectLst>
                  <a:cs typeface="Arial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18D9906-A1BC-4EF6-8ED4-26637D9E951F}"/>
                  </a:ext>
                </a:extLst>
              </p:cNvPr>
              <p:cNvSpPr/>
              <p:nvPr/>
            </p:nvSpPr>
            <p:spPr>
              <a:xfrm>
                <a:off x="1979712" y="1332374"/>
                <a:ext cx="864096" cy="86409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perspectiveRight">
                  <a:rot lat="21299999" lon="20699968" rev="0"/>
                </a:camera>
                <a:lightRig rig="threePt" dir="t"/>
              </a:scene3d>
              <a:sp3d extrusionH="819150" prstMaterial="flat">
                <a:bevelT w="63500" h="31750"/>
                <a:extrusionClr>
                  <a:schemeClr val="accent4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5400" b="1" spc="50" dirty="0">
                    <a:ln w="13500">
                      <a:solidFill>
                        <a:schemeClr val="accent1">
                          <a:shade val="2500"/>
                          <a:alpha val="65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innerShdw blurRad="50900" dist="38500" dir="13500000">
                        <a:srgbClr val="000000">
                          <a:alpha val="60000"/>
                        </a:srgbClr>
                      </a:innerShdw>
                    </a:effectLst>
                    <a:cs typeface="Arial" pitchFamily="34" charset="0"/>
                  </a:rPr>
                  <a:t>A</a:t>
                </a:r>
                <a:endParaRPr lang="ko-KR" altLang="en-US" sz="5400" b="1" spc="50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innerShdw blurRad="50900" dist="38500" dir="13500000">
                      <a:srgbClr val="000000">
                        <a:alpha val="60000"/>
                      </a:srgbClr>
                    </a:innerShdw>
                  </a:effectLst>
                  <a:cs typeface="Arial" pitchFamily="34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A6F91F4-0009-43F9-B027-5230B3513B02}"/>
                  </a:ext>
                </a:extLst>
              </p:cNvPr>
              <p:cNvSpPr/>
              <p:nvPr/>
            </p:nvSpPr>
            <p:spPr>
              <a:xfrm>
                <a:off x="1619672" y="2211710"/>
                <a:ext cx="864096" cy="86409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scene3d>
                <a:camera prst="perspectiveRight">
                  <a:rot lat="0" lon="1499958" rev="0"/>
                </a:camera>
                <a:lightRig rig="threePt" dir="t"/>
              </a:scene3d>
              <a:sp3d extrusionH="819150" prstMaterial="flat">
                <a:bevelT w="38100" h="44450"/>
                <a:extrusionClr>
                  <a:schemeClr val="accent3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5400" b="1" spc="50" dirty="0">
                    <a:ln w="13500">
                      <a:solidFill>
                        <a:schemeClr val="accent1">
                          <a:shade val="2500"/>
                          <a:alpha val="65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innerShdw blurRad="50900" dist="38500" dir="13500000">
                        <a:srgbClr val="000000">
                          <a:alpha val="60000"/>
                        </a:srgbClr>
                      </a:innerShdw>
                    </a:effectLst>
                    <a:cs typeface="Arial" pitchFamily="34" charset="0"/>
                  </a:rPr>
                  <a:t>B</a:t>
                </a:r>
                <a:endParaRPr lang="ko-KR" altLang="en-US" sz="5400" b="1" spc="50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innerShdw blurRad="50900" dist="38500" dir="13500000">
                      <a:srgbClr val="000000">
                        <a:alpha val="60000"/>
                      </a:srgbClr>
                    </a:innerShdw>
                  </a:effectLst>
                  <a:cs typeface="Arial" pitchFamily="34" charset="0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7BE7FB-5F42-4423-AB3F-DB94DCC93A54}"/>
              </a:ext>
            </a:extLst>
          </p:cNvPr>
          <p:cNvGrpSpPr/>
          <p:nvPr/>
        </p:nvGrpSpPr>
        <p:grpSpPr>
          <a:xfrm>
            <a:off x="7796196" y="1770693"/>
            <a:ext cx="3614754" cy="804046"/>
            <a:chOff x="6211235" y="1628800"/>
            <a:chExt cx="2609237" cy="80404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0501CE-F59B-4B74-8716-64FB0830D4F1}"/>
                </a:ext>
              </a:extLst>
            </p:cNvPr>
            <p:cNvSpPr txBox="1"/>
            <p:nvPr/>
          </p:nvSpPr>
          <p:spPr>
            <a:xfrm>
              <a:off x="6214186" y="1628800"/>
              <a:ext cx="26062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微服务架构普及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484BC5-1D9B-45D7-8E5B-0B08222B5C8F}"/>
                </a:ext>
              </a:extLst>
            </p:cNvPr>
            <p:cNvSpPr txBox="1"/>
            <p:nvPr/>
          </p:nvSpPr>
          <p:spPr>
            <a:xfrm>
              <a:off x="6211235" y="1971181"/>
              <a:ext cx="2609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微服务架构已成为云原生系统的主流范式，具有高度解耦、独立部署和快速迭代等优势</a:t>
              </a:r>
            </a:p>
          </p:txBody>
        </p:sp>
      </p:grpSp>
      <p:grpSp>
        <p:nvGrpSpPr>
          <p:cNvPr id="15" name="그룹 11">
            <a:extLst>
              <a:ext uri="{FF2B5EF4-FFF2-40B4-BE49-F238E27FC236}">
                <a16:creationId xmlns:a16="http://schemas.microsoft.com/office/drawing/2014/main" id="{F1519891-3B28-4F49-891E-2DCCE19CCF53}"/>
              </a:ext>
            </a:extLst>
          </p:cNvPr>
          <p:cNvGrpSpPr/>
          <p:nvPr/>
        </p:nvGrpSpPr>
        <p:grpSpPr>
          <a:xfrm>
            <a:off x="7796196" y="3909266"/>
            <a:ext cx="3614754" cy="804046"/>
            <a:chOff x="7719995" y="3745651"/>
            <a:chExt cx="3614754" cy="80404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16F450-743D-4E8F-BA13-DB9FA12BE214}"/>
                </a:ext>
              </a:extLst>
            </p:cNvPr>
            <p:cNvSpPr txBox="1"/>
            <p:nvPr/>
          </p:nvSpPr>
          <p:spPr>
            <a:xfrm>
              <a:off x="7719995" y="3745651"/>
              <a:ext cx="36147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RCA</a:t>
              </a:r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失效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6642972-61A5-40B8-B6F7-F0F85ACE90E7}"/>
                </a:ext>
              </a:extLst>
            </p:cNvPr>
            <p:cNvSpPr txBox="1"/>
            <p:nvPr/>
          </p:nvSpPr>
          <p:spPr>
            <a:xfrm>
              <a:off x="7719995" y="4088032"/>
              <a:ext cx="36147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传统根因分析方法难以应对数据孤岛、非线性传播等问题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0EC35D-6A62-4D98-A9EE-9958AB285C3B}"/>
              </a:ext>
            </a:extLst>
          </p:cNvPr>
          <p:cNvGrpSpPr/>
          <p:nvPr/>
        </p:nvGrpSpPr>
        <p:grpSpPr>
          <a:xfrm>
            <a:off x="684338" y="2839979"/>
            <a:ext cx="3614754" cy="804046"/>
            <a:chOff x="194751" y="2772288"/>
            <a:chExt cx="2609237" cy="80404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EC88349-21CC-459E-8BE7-83093731EF76}"/>
                </a:ext>
              </a:extLst>
            </p:cNvPr>
            <p:cNvSpPr txBox="1"/>
            <p:nvPr/>
          </p:nvSpPr>
          <p:spPr>
            <a:xfrm>
              <a:off x="197702" y="2772288"/>
              <a:ext cx="26062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运维复杂性剧增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032319-31F0-4EDE-AD5D-317491DAAF3B}"/>
                </a:ext>
              </a:extLst>
            </p:cNvPr>
            <p:cNvSpPr txBox="1"/>
            <p:nvPr/>
          </p:nvSpPr>
          <p:spPr>
            <a:xfrm>
              <a:off x="194751" y="3114669"/>
              <a:ext cx="2609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系统拓扑结构变得极其复杂，依赖关系错综甚至存在循环依赖，故障传播路径高度非线性。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BEF96E-02F1-4080-8F32-6CCA493E11C0}"/>
              </a:ext>
            </a:extLst>
          </p:cNvPr>
          <p:cNvGrpSpPr/>
          <p:nvPr/>
        </p:nvGrpSpPr>
        <p:grpSpPr>
          <a:xfrm>
            <a:off x="684338" y="4978554"/>
            <a:ext cx="3614754" cy="804046"/>
            <a:chOff x="179512" y="5029814"/>
            <a:chExt cx="2609237" cy="80404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A7A0039-1297-465D-9F9C-6B9947EDBB6C}"/>
                </a:ext>
              </a:extLst>
            </p:cNvPr>
            <p:cNvSpPr txBox="1"/>
            <p:nvPr/>
          </p:nvSpPr>
          <p:spPr>
            <a:xfrm>
              <a:off x="182463" y="5029814"/>
              <a:ext cx="26062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单智能体方案局限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890E220-12EA-4884-9DCD-D3B6B958C71A}"/>
                </a:ext>
              </a:extLst>
            </p:cNvPr>
            <p:cNvSpPr txBox="1"/>
            <p:nvPr/>
          </p:nvSpPr>
          <p:spPr>
            <a:xfrm>
              <a:off x="179512" y="5372195"/>
              <a:ext cx="2609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大语言模型存在“幻觉”、缺乏可验证依据、决策过程黑箱等严重问题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98B9A98-F939-4039-91DF-5A469919B51F}"/>
              </a:ext>
            </a:extLst>
          </p:cNvPr>
          <p:cNvSpPr/>
          <p:nvPr/>
        </p:nvSpPr>
        <p:spPr>
          <a:xfrm>
            <a:off x="7556208" y="1726831"/>
            <a:ext cx="122258" cy="1076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FD7377-94C0-48B4-8695-905A77ABFCE8}"/>
              </a:ext>
            </a:extLst>
          </p:cNvPr>
          <p:cNvSpPr/>
          <p:nvPr/>
        </p:nvSpPr>
        <p:spPr>
          <a:xfrm>
            <a:off x="7556208" y="3865405"/>
            <a:ext cx="122258" cy="10764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6133ED-80A7-47F3-B757-3994D5B9B382}"/>
              </a:ext>
            </a:extLst>
          </p:cNvPr>
          <p:cNvSpPr/>
          <p:nvPr/>
        </p:nvSpPr>
        <p:spPr>
          <a:xfrm>
            <a:off x="4389566" y="2796118"/>
            <a:ext cx="122258" cy="10764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2B5F08-D52E-4C06-8C3A-36C165F6F562}"/>
              </a:ext>
            </a:extLst>
          </p:cNvPr>
          <p:cNvSpPr/>
          <p:nvPr/>
        </p:nvSpPr>
        <p:spPr>
          <a:xfrm>
            <a:off x="4389566" y="4934693"/>
            <a:ext cx="122258" cy="10764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Chevron 13">
            <a:extLst>
              <a:ext uri="{FF2B5EF4-FFF2-40B4-BE49-F238E27FC236}">
                <a16:creationId xmlns:a16="http://schemas.microsoft.com/office/drawing/2014/main" id="{FF3CC57E-7A14-4F0D-98C9-96410547EB2D}"/>
              </a:ext>
            </a:extLst>
          </p:cNvPr>
          <p:cNvSpPr/>
          <p:nvPr/>
        </p:nvSpPr>
        <p:spPr>
          <a:xfrm>
            <a:off x="7051313" y="2069993"/>
            <a:ext cx="292585" cy="390113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Chevron 78">
            <a:extLst>
              <a:ext uri="{FF2B5EF4-FFF2-40B4-BE49-F238E27FC236}">
                <a16:creationId xmlns:a16="http://schemas.microsoft.com/office/drawing/2014/main" id="{4C143442-8524-4A37-8712-0E5B4587462A}"/>
              </a:ext>
            </a:extLst>
          </p:cNvPr>
          <p:cNvSpPr/>
          <p:nvPr/>
        </p:nvSpPr>
        <p:spPr>
          <a:xfrm>
            <a:off x="7051313" y="4208567"/>
            <a:ext cx="292585" cy="39011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Chevron 79">
            <a:extLst>
              <a:ext uri="{FF2B5EF4-FFF2-40B4-BE49-F238E27FC236}">
                <a16:creationId xmlns:a16="http://schemas.microsoft.com/office/drawing/2014/main" id="{05F8E9DA-8BB5-4F8C-8845-96B38E7C2273}"/>
              </a:ext>
            </a:extLst>
          </p:cNvPr>
          <p:cNvSpPr/>
          <p:nvPr/>
        </p:nvSpPr>
        <p:spPr>
          <a:xfrm rot="10800000">
            <a:off x="4743250" y="3139280"/>
            <a:ext cx="292585" cy="390113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Chevron 80">
            <a:extLst>
              <a:ext uri="{FF2B5EF4-FFF2-40B4-BE49-F238E27FC236}">
                <a16:creationId xmlns:a16="http://schemas.microsoft.com/office/drawing/2014/main" id="{9D6D445C-66BC-41D3-944B-B3E3E6F30150}"/>
              </a:ext>
            </a:extLst>
          </p:cNvPr>
          <p:cNvSpPr/>
          <p:nvPr/>
        </p:nvSpPr>
        <p:spPr>
          <a:xfrm rot="10800000">
            <a:off x="4743251" y="5277854"/>
            <a:ext cx="292585" cy="39011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82605C96-68F8-4C69-95D1-97629869D107}"/>
              </a:ext>
            </a:extLst>
          </p:cNvPr>
          <p:cNvSpPr txBox="1">
            <a:spLocks/>
          </p:cNvSpPr>
          <p:nvPr/>
        </p:nvSpPr>
        <p:spPr>
          <a:xfrm>
            <a:off x="323530" y="339510"/>
            <a:ext cx="2271864" cy="487264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背景</a:t>
            </a:r>
          </a:p>
        </p:txBody>
      </p:sp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">
            <a:extLst>
              <a:ext uri="{FF2B5EF4-FFF2-40B4-BE49-F238E27FC236}">
                <a16:creationId xmlns:a16="http://schemas.microsoft.com/office/drawing/2014/main" id="{2C704074-F328-4611-9EC0-1643323E1460}"/>
              </a:ext>
            </a:extLst>
          </p:cNvPr>
          <p:cNvSpPr/>
          <p:nvPr/>
        </p:nvSpPr>
        <p:spPr>
          <a:xfrm>
            <a:off x="5231201" y="2362029"/>
            <a:ext cx="68700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本项目旨在构建一个多智能体协作的微服务根因分析实验系统，通过以下方式提升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RCA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的准确性、可解释性与可信度：</a:t>
            </a:r>
          </a:p>
        </p:txBody>
      </p:sp>
      <p:sp>
        <p:nvSpPr>
          <p:cNvPr id="17" name="직사각형 22">
            <a:extLst>
              <a:ext uri="{FF2B5EF4-FFF2-40B4-BE49-F238E27FC236}">
                <a16:creationId xmlns:a16="http://schemas.microsoft.com/office/drawing/2014/main" id="{38E7798A-61CE-488D-8ACF-022164CB395C}"/>
              </a:ext>
            </a:extLst>
          </p:cNvPr>
          <p:cNvSpPr/>
          <p:nvPr/>
        </p:nvSpPr>
        <p:spPr>
          <a:xfrm>
            <a:off x="5340991" y="3439286"/>
            <a:ext cx="31832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引入专业化分工的多智能体架构</a:t>
            </a:r>
          </a:p>
        </p:txBody>
      </p:sp>
      <p:sp>
        <p:nvSpPr>
          <p:cNvPr id="18" name="직사각형 5">
            <a:extLst>
              <a:ext uri="{FF2B5EF4-FFF2-40B4-BE49-F238E27FC236}">
                <a16:creationId xmlns:a16="http://schemas.microsoft.com/office/drawing/2014/main" id="{B1EBCBF2-5519-40E4-9ABC-AD5D65FC26BF}"/>
              </a:ext>
            </a:extLst>
          </p:cNvPr>
          <p:cNvSpPr/>
          <p:nvPr/>
        </p:nvSpPr>
        <p:spPr>
          <a:xfrm>
            <a:off x="5231201" y="4161422"/>
            <a:ext cx="31832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利用区块链启发机制实现过程可追溯与共识治理</a:t>
            </a:r>
          </a:p>
        </p:txBody>
      </p:sp>
      <p:sp>
        <p:nvSpPr>
          <p:cNvPr id="19" name="직사각형 24">
            <a:extLst>
              <a:ext uri="{FF2B5EF4-FFF2-40B4-BE49-F238E27FC236}">
                <a16:creationId xmlns:a16="http://schemas.microsoft.com/office/drawing/2014/main" id="{A6663568-AD14-4C0A-A99B-8C28E760040B}"/>
              </a:ext>
            </a:extLst>
          </p:cNvPr>
          <p:cNvSpPr/>
          <p:nvPr/>
        </p:nvSpPr>
        <p:spPr>
          <a:xfrm>
            <a:off x="5231201" y="5099001"/>
            <a:ext cx="31832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支持可视化审计与经济激励模型，抑制幻觉并提高协作质量</a:t>
            </a:r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2B839DB7-CD5E-46F5-BDEE-ED21C19BA800}"/>
              </a:ext>
            </a:extLst>
          </p:cNvPr>
          <p:cNvSpPr txBox="1">
            <a:spLocks/>
          </p:cNvSpPr>
          <p:nvPr/>
        </p:nvSpPr>
        <p:spPr>
          <a:xfrm>
            <a:off x="323530" y="339510"/>
            <a:ext cx="2271864" cy="487264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目的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3096A6B-C5EE-48EE-B6A5-7D2FA775A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09" y="2278540"/>
            <a:ext cx="4639322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">
            <a:extLst>
              <a:ext uri="{FF2B5EF4-FFF2-40B4-BE49-F238E27FC236}">
                <a16:creationId xmlns:a16="http://schemas.microsoft.com/office/drawing/2014/main" id="{2C704074-F328-4611-9EC0-1643323E1460}"/>
              </a:ext>
            </a:extLst>
          </p:cNvPr>
          <p:cNvSpPr/>
          <p:nvPr/>
        </p:nvSpPr>
        <p:spPr>
          <a:xfrm>
            <a:off x="5231201" y="4711138"/>
            <a:ext cx="68700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效果：在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Train-Ticket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AIOps Challenge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数据集上，根因准确率达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54.4%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，显著优于单智能体方法。</a:t>
            </a:r>
          </a:p>
        </p:txBody>
      </p:sp>
      <p:sp>
        <p:nvSpPr>
          <p:cNvPr id="17" name="직사각형 22">
            <a:extLst>
              <a:ext uri="{FF2B5EF4-FFF2-40B4-BE49-F238E27FC236}">
                <a16:creationId xmlns:a16="http://schemas.microsoft.com/office/drawing/2014/main" id="{38E7798A-61CE-488D-8ACF-022164CB395C}"/>
              </a:ext>
            </a:extLst>
          </p:cNvPr>
          <p:cNvSpPr/>
          <p:nvPr/>
        </p:nvSpPr>
        <p:spPr>
          <a:xfrm>
            <a:off x="5231201" y="1839086"/>
            <a:ext cx="31832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个专业化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Agent</a:t>
            </a:r>
          </a:p>
        </p:txBody>
      </p:sp>
      <p:sp>
        <p:nvSpPr>
          <p:cNvPr id="18" name="직사각형 5">
            <a:extLst>
              <a:ext uri="{FF2B5EF4-FFF2-40B4-BE49-F238E27FC236}">
                <a16:creationId xmlns:a16="http://schemas.microsoft.com/office/drawing/2014/main" id="{B1EBCBF2-5519-40E4-9ABC-AD5D65FC26BF}"/>
              </a:ext>
            </a:extLst>
          </p:cNvPr>
          <p:cNvSpPr/>
          <p:nvPr/>
        </p:nvSpPr>
        <p:spPr>
          <a:xfrm>
            <a:off x="5231201" y="2561222"/>
            <a:ext cx="31832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标准化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Agent Workflow</a:t>
            </a:r>
          </a:p>
        </p:txBody>
      </p:sp>
      <p:sp>
        <p:nvSpPr>
          <p:cNvPr id="19" name="직사각형 24">
            <a:extLst>
              <a:ext uri="{FF2B5EF4-FFF2-40B4-BE49-F238E27FC236}">
                <a16:creationId xmlns:a16="http://schemas.microsoft.com/office/drawing/2014/main" id="{A6663568-AD14-4C0A-A99B-8C28E760040B}"/>
              </a:ext>
            </a:extLst>
          </p:cNvPr>
          <p:cNvSpPr/>
          <p:nvPr/>
        </p:nvSpPr>
        <p:spPr>
          <a:xfrm>
            <a:off x="5231201" y="3283358"/>
            <a:ext cx="31832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区块链启发式投票机制</a:t>
            </a:r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2B839DB7-CD5E-46F5-BDEE-ED21C19BA800}"/>
              </a:ext>
            </a:extLst>
          </p:cNvPr>
          <p:cNvSpPr txBox="1">
            <a:spLocks/>
          </p:cNvSpPr>
          <p:nvPr/>
        </p:nvSpPr>
        <p:spPr>
          <a:xfrm>
            <a:off x="323530" y="339510"/>
            <a:ext cx="4397060" cy="487264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论文原始方案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B23A4F-2AC0-42EA-8DB8-A3918293D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64" y="1425934"/>
            <a:ext cx="3772426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4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5B784E-C559-4584-A087-AE1C72CCD11B}"/>
              </a:ext>
            </a:extLst>
          </p:cNvPr>
          <p:cNvGrpSpPr/>
          <p:nvPr/>
        </p:nvGrpSpPr>
        <p:grpSpPr>
          <a:xfrm rot="19800000">
            <a:off x="4524856" y="2348857"/>
            <a:ext cx="3142284" cy="3367890"/>
            <a:chOff x="4524856" y="2348857"/>
            <a:chExt cx="3142284" cy="3367890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CAEBA7EE-DA1D-4681-9035-43FC09F365E7}"/>
                </a:ext>
              </a:extLst>
            </p:cNvPr>
            <p:cNvSpPr/>
            <p:nvPr/>
          </p:nvSpPr>
          <p:spPr>
            <a:xfrm>
              <a:off x="5119310" y="4032802"/>
              <a:ext cx="1953376" cy="168394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807A729A-D78A-41AE-86AB-1822A8DD6F33}"/>
                </a:ext>
              </a:extLst>
            </p:cNvPr>
            <p:cNvSpPr/>
            <p:nvPr/>
          </p:nvSpPr>
          <p:spPr>
            <a:xfrm rot="10800000">
              <a:off x="5119311" y="2348857"/>
              <a:ext cx="1953376" cy="1683945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E8195801-0FDE-48FC-B8A1-21A6D10C808A}"/>
                </a:ext>
              </a:extLst>
            </p:cNvPr>
            <p:cNvSpPr/>
            <p:nvPr/>
          </p:nvSpPr>
          <p:spPr>
            <a:xfrm rot="18000000">
              <a:off x="5848480" y="3611816"/>
              <a:ext cx="1953376" cy="1683945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476FDA6F-8FDA-4EAC-B9EB-BE3BE9D81DA9}"/>
                </a:ext>
              </a:extLst>
            </p:cNvPr>
            <p:cNvSpPr/>
            <p:nvPr/>
          </p:nvSpPr>
          <p:spPr>
            <a:xfrm rot="7200000">
              <a:off x="4390141" y="2769843"/>
              <a:ext cx="1953376" cy="1683945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DCA2FF84-7D68-4708-97FF-4BAEE7949856}"/>
                </a:ext>
              </a:extLst>
            </p:cNvPr>
            <p:cNvSpPr/>
            <p:nvPr/>
          </p:nvSpPr>
          <p:spPr>
            <a:xfrm rot="3600000">
              <a:off x="4390141" y="3611815"/>
              <a:ext cx="1953376" cy="1683945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987325C2-9582-46BA-9E6B-47E0209A0532}"/>
                </a:ext>
              </a:extLst>
            </p:cNvPr>
            <p:cNvSpPr/>
            <p:nvPr/>
          </p:nvSpPr>
          <p:spPr>
            <a:xfrm rot="14400000">
              <a:off x="5848480" y="2769844"/>
              <a:ext cx="1953376" cy="1683945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308ADF0C-F1BC-4735-9964-19C7BA523A83}"/>
              </a:ext>
            </a:extLst>
          </p:cNvPr>
          <p:cNvSpPr/>
          <p:nvPr/>
        </p:nvSpPr>
        <p:spPr>
          <a:xfrm>
            <a:off x="5841943" y="3492569"/>
            <a:ext cx="536368" cy="5363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isometricTopUp"/>
            <a:lightRig rig="balanced" dir="t"/>
          </a:scene3d>
          <a:sp3d extrusionH="558800" contourW="12700" prstMaterial="matte">
            <a:extrusionClr>
              <a:schemeClr val="bg1">
                <a:lumMod val="95000"/>
              </a:schemeClr>
            </a:extrusionClr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EDF07911-067A-43F5-852F-A888B281D124}"/>
              </a:ext>
            </a:extLst>
          </p:cNvPr>
          <p:cNvSpPr>
            <a:spLocks noChangeAspect="1"/>
          </p:cNvSpPr>
          <p:nvPr/>
        </p:nvSpPr>
        <p:spPr>
          <a:xfrm>
            <a:off x="5342770" y="2871230"/>
            <a:ext cx="354261" cy="361524"/>
          </a:xfrm>
          <a:custGeom>
            <a:avLst/>
            <a:gdLst/>
            <a:ahLst/>
            <a:cxnLst/>
            <a:rect l="l" t="t" r="r" b="b"/>
            <a:pathLst>
              <a:path w="3860876" h="3940019">
                <a:moveTo>
                  <a:pt x="3248876" y="1942264"/>
                </a:moveTo>
                <a:lnTo>
                  <a:pt x="3860876" y="1942264"/>
                </a:lnTo>
                <a:lnTo>
                  <a:pt x="3860876" y="2090815"/>
                </a:lnTo>
                <a:lnTo>
                  <a:pt x="3859023" y="2090815"/>
                </a:lnTo>
                <a:cubicBezTo>
                  <a:pt x="3817225" y="2949620"/>
                  <a:pt x="3215273" y="3679864"/>
                  <a:pt x="2378197" y="3884304"/>
                </a:cubicBezTo>
                <a:cubicBezTo>
                  <a:pt x="2219818" y="3922985"/>
                  <a:pt x="2060231" y="3941082"/>
                  <a:pt x="1902626" y="3939971"/>
                </a:cubicBezTo>
                <a:cubicBezTo>
                  <a:pt x="1286982" y="3935631"/>
                  <a:pt x="701577" y="3638194"/>
                  <a:pt x="337583" y="3128887"/>
                </a:cubicBezTo>
                <a:lnTo>
                  <a:pt x="30667" y="3435803"/>
                </a:lnTo>
                <a:lnTo>
                  <a:pt x="30667" y="2342045"/>
                </a:lnTo>
                <a:lnTo>
                  <a:pt x="1124425" y="2342045"/>
                </a:lnTo>
                <a:lnTo>
                  <a:pt x="781340" y="2685130"/>
                </a:lnTo>
                <a:cubicBezTo>
                  <a:pt x="1079782" y="3180935"/>
                  <a:pt x="1667379" y="3425841"/>
                  <a:pt x="2232517" y="3287817"/>
                </a:cubicBezTo>
                <a:cubicBezTo>
                  <a:pt x="2810639" y="3146622"/>
                  <a:pt x="3224897" y="2638979"/>
                  <a:pt x="3247291" y="2044286"/>
                </a:cubicBezTo>
                <a:lnTo>
                  <a:pt x="3248876" y="2044345"/>
                </a:lnTo>
                <a:close/>
                <a:moveTo>
                  <a:pt x="1958249" y="48"/>
                </a:moveTo>
                <a:cubicBezTo>
                  <a:pt x="2573893" y="4388"/>
                  <a:pt x="3159298" y="301825"/>
                  <a:pt x="3523293" y="811132"/>
                </a:cubicBezTo>
                <a:lnTo>
                  <a:pt x="3830209" y="504216"/>
                </a:lnTo>
                <a:lnTo>
                  <a:pt x="3830209" y="1597974"/>
                </a:lnTo>
                <a:lnTo>
                  <a:pt x="2736450" y="1597974"/>
                </a:lnTo>
                <a:lnTo>
                  <a:pt x="3079535" y="1254889"/>
                </a:lnTo>
                <a:cubicBezTo>
                  <a:pt x="2781093" y="759084"/>
                  <a:pt x="2193496" y="514178"/>
                  <a:pt x="1628358" y="652202"/>
                </a:cubicBezTo>
                <a:cubicBezTo>
                  <a:pt x="1050236" y="793397"/>
                  <a:pt x="635978" y="1301040"/>
                  <a:pt x="613584" y="1895733"/>
                </a:cubicBezTo>
                <a:lnTo>
                  <a:pt x="612000" y="1895674"/>
                </a:lnTo>
                <a:lnTo>
                  <a:pt x="612000" y="1985958"/>
                </a:lnTo>
                <a:lnTo>
                  <a:pt x="0" y="1985958"/>
                </a:lnTo>
                <a:lnTo>
                  <a:pt x="0" y="1837407"/>
                </a:lnTo>
                <a:lnTo>
                  <a:pt x="2787" y="1837407"/>
                </a:lnTo>
                <a:cubicBezTo>
                  <a:pt x="49183" y="983705"/>
                  <a:pt x="649445" y="259216"/>
                  <a:pt x="1482678" y="55715"/>
                </a:cubicBezTo>
                <a:cubicBezTo>
                  <a:pt x="1641057" y="17034"/>
                  <a:pt x="1800644" y="-1063"/>
                  <a:pt x="1958249" y="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Frame 1">
            <a:extLst>
              <a:ext uri="{FF2B5EF4-FFF2-40B4-BE49-F238E27FC236}">
                <a16:creationId xmlns:a16="http://schemas.microsoft.com/office/drawing/2014/main" id="{837FAC88-5092-4BB3-A6A7-30806F66F57A}"/>
              </a:ext>
            </a:extLst>
          </p:cNvPr>
          <p:cNvSpPr>
            <a:spLocks noChangeAspect="1"/>
          </p:cNvSpPr>
          <p:nvPr/>
        </p:nvSpPr>
        <p:spPr>
          <a:xfrm>
            <a:off x="6503514" y="2864851"/>
            <a:ext cx="354261" cy="354261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0" y="2700080"/>
                </a:moveTo>
                <a:lnTo>
                  <a:pt x="569408" y="2700080"/>
                </a:lnTo>
                <a:lnTo>
                  <a:pt x="569408" y="3390592"/>
                </a:lnTo>
                <a:lnTo>
                  <a:pt x="3390592" y="3390592"/>
                </a:lnTo>
                <a:lnTo>
                  <a:pt x="3390592" y="2700080"/>
                </a:lnTo>
                <a:lnTo>
                  <a:pt x="3960000" y="2700080"/>
                </a:lnTo>
                <a:lnTo>
                  <a:pt x="3960000" y="3960000"/>
                </a:lnTo>
                <a:lnTo>
                  <a:pt x="0" y="3960000"/>
                </a:lnTo>
                <a:close/>
                <a:moveTo>
                  <a:pt x="1530791" y="0"/>
                </a:moveTo>
                <a:lnTo>
                  <a:pt x="2429209" y="0"/>
                </a:lnTo>
                <a:lnTo>
                  <a:pt x="2429209" y="2108456"/>
                </a:lnTo>
                <a:lnTo>
                  <a:pt x="2772088" y="2108456"/>
                </a:lnTo>
                <a:lnTo>
                  <a:pt x="1980000" y="3198242"/>
                </a:lnTo>
                <a:lnTo>
                  <a:pt x="1187912" y="2108456"/>
                </a:lnTo>
                <a:lnTo>
                  <a:pt x="1530791" y="21084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Down Arrow 1">
            <a:extLst>
              <a:ext uri="{FF2B5EF4-FFF2-40B4-BE49-F238E27FC236}">
                <a16:creationId xmlns:a16="http://schemas.microsoft.com/office/drawing/2014/main" id="{DADA5B5D-021A-4F04-B499-FAC6B8E200DE}"/>
              </a:ext>
            </a:extLst>
          </p:cNvPr>
          <p:cNvSpPr>
            <a:spLocks noChangeAspect="1"/>
          </p:cNvSpPr>
          <p:nvPr/>
        </p:nvSpPr>
        <p:spPr>
          <a:xfrm>
            <a:off x="4816131" y="3799408"/>
            <a:ext cx="241222" cy="354261"/>
          </a:xfrm>
          <a:custGeom>
            <a:avLst/>
            <a:gdLst/>
            <a:ahLst/>
            <a:cxnLst/>
            <a:rect l="l" t="t" r="r" b="b"/>
            <a:pathLst>
              <a:path w="2745756" h="4032448">
                <a:moveTo>
                  <a:pt x="1622229" y="1008112"/>
                </a:moveTo>
                <a:lnTo>
                  <a:pt x="2371247" y="1008112"/>
                </a:lnTo>
                <a:lnTo>
                  <a:pt x="2371247" y="3081405"/>
                </a:lnTo>
                <a:lnTo>
                  <a:pt x="2745756" y="3081405"/>
                </a:lnTo>
                <a:lnTo>
                  <a:pt x="1996738" y="4032448"/>
                </a:lnTo>
                <a:lnTo>
                  <a:pt x="1247720" y="3081405"/>
                </a:lnTo>
                <a:lnTo>
                  <a:pt x="1622229" y="3081405"/>
                </a:lnTo>
                <a:close/>
                <a:moveTo>
                  <a:pt x="749018" y="0"/>
                </a:moveTo>
                <a:lnTo>
                  <a:pt x="1498036" y="951043"/>
                </a:lnTo>
                <a:lnTo>
                  <a:pt x="1123527" y="951043"/>
                </a:lnTo>
                <a:lnTo>
                  <a:pt x="1123527" y="3024336"/>
                </a:lnTo>
                <a:lnTo>
                  <a:pt x="374509" y="3024336"/>
                </a:lnTo>
                <a:lnTo>
                  <a:pt x="374509" y="951043"/>
                </a:lnTo>
                <a:lnTo>
                  <a:pt x="0" y="9510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76F44027-14A3-4DC2-9923-F9B52883625F}"/>
              </a:ext>
            </a:extLst>
          </p:cNvPr>
          <p:cNvSpPr>
            <a:spLocks noChangeAspect="1"/>
          </p:cNvSpPr>
          <p:nvPr/>
        </p:nvSpPr>
        <p:spPr>
          <a:xfrm>
            <a:off x="5451008" y="4846491"/>
            <a:ext cx="381600" cy="434742"/>
          </a:xfrm>
          <a:custGeom>
            <a:avLst/>
            <a:gdLst/>
            <a:ahLst/>
            <a:cxnLst/>
            <a:rect l="l" t="t" r="r" b="b"/>
            <a:pathLst>
              <a:path w="3456727" h="3938119">
                <a:moveTo>
                  <a:pt x="1728364" y="1961325"/>
                </a:moveTo>
                <a:cubicBezTo>
                  <a:pt x="1726089" y="2407152"/>
                  <a:pt x="1737463" y="2812034"/>
                  <a:pt x="1735188" y="3257861"/>
                </a:cubicBezTo>
                <a:cubicBezTo>
                  <a:pt x="2394830" y="3057694"/>
                  <a:pt x="2610919" y="2352560"/>
                  <a:pt x="2765594" y="1981796"/>
                </a:cubicBezTo>
                <a:close/>
                <a:moveTo>
                  <a:pt x="1728362" y="682044"/>
                </a:moveTo>
                <a:cubicBezTo>
                  <a:pt x="1355324" y="868563"/>
                  <a:pt x="1166530" y="952725"/>
                  <a:pt x="609247" y="1002767"/>
                </a:cubicBezTo>
                <a:cubicBezTo>
                  <a:pt x="606972" y="1330312"/>
                  <a:pt x="631992" y="1623739"/>
                  <a:pt x="704780" y="1964933"/>
                </a:cubicBezTo>
                <a:lnTo>
                  <a:pt x="1728363" y="1971757"/>
                </a:lnTo>
                <a:cubicBezTo>
                  <a:pt x="1728363" y="1541853"/>
                  <a:pt x="1728362" y="1111948"/>
                  <a:pt x="1728362" y="682044"/>
                </a:cubicBezTo>
                <a:close/>
                <a:moveTo>
                  <a:pt x="1723409" y="487996"/>
                </a:moveTo>
                <a:cubicBezTo>
                  <a:pt x="1725062" y="488690"/>
                  <a:pt x="1726712" y="489384"/>
                  <a:pt x="1728363" y="490064"/>
                </a:cubicBezTo>
                <a:cubicBezTo>
                  <a:pt x="1730015" y="489384"/>
                  <a:pt x="1731666" y="488690"/>
                  <a:pt x="1733319" y="487996"/>
                </a:cubicBezTo>
                <a:lnTo>
                  <a:pt x="1733319" y="492131"/>
                </a:lnTo>
                <a:cubicBezTo>
                  <a:pt x="2179467" y="679460"/>
                  <a:pt x="2405896" y="769409"/>
                  <a:pt x="2817789" y="813808"/>
                </a:cubicBezTo>
                <a:cubicBezTo>
                  <a:pt x="2971516" y="823489"/>
                  <a:pt x="3036247" y="875307"/>
                  <a:pt x="3033236" y="1061333"/>
                </a:cubicBezTo>
                <a:cubicBezTo>
                  <a:pt x="3015439" y="2441328"/>
                  <a:pt x="2363638" y="3359629"/>
                  <a:pt x="1733319" y="3448048"/>
                </a:cubicBezTo>
                <a:lnTo>
                  <a:pt x="1733319" y="3450123"/>
                </a:lnTo>
                <a:lnTo>
                  <a:pt x="1728363" y="3449086"/>
                </a:lnTo>
                <a:lnTo>
                  <a:pt x="1723409" y="3450123"/>
                </a:lnTo>
                <a:lnTo>
                  <a:pt x="1723409" y="3448048"/>
                </a:lnTo>
                <a:cubicBezTo>
                  <a:pt x="1093089" y="3359629"/>
                  <a:pt x="441289" y="2441328"/>
                  <a:pt x="423491" y="1061333"/>
                </a:cubicBezTo>
                <a:cubicBezTo>
                  <a:pt x="420479" y="875307"/>
                  <a:pt x="485211" y="823489"/>
                  <a:pt x="638937" y="813808"/>
                </a:cubicBezTo>
                <a:cubicBezTo>
                  <a:pt x="1050832" y="769409"/>
                  <a:pt x="1277261" y="679460"/>
                  <a:pt x="1723409" y="492131"/>
                </a:cubicBezTo>
                <a:close/>
                <a:moveTo>
                  <a:pt x="1722802" y="306889"/>
                </a:moveTo>
                <a:lnTo>
                  <a:pt x="1722802" y="311530"/>
                </a:lnTo>
                <a:cubicBezTo>
                  <a:pt x="1222099" y="521767"/>
                  <a:pt x="967982" y="622713"/>
                  <a:pt x="505720" y="672542"/>
                </a:cubicBezTo>
                <a:cubicBezTo>
                  <a:pt x="333196" y="683408"/>
                  <a:pt x="260550" y="741561"/>
                  <a:pt x="263929" y="950334"/>
                </a:cubicBezTo>
                <a:cubicBezTo>
                  <a:pt x="283902" y="2499079"/>
                  <a:pt x="1015407" y="3529669"/>
                  <a:pt x="1722802" y="3628902"/>
                </a:cubicBezTo>
                <a:lnTo>
                  <a:pt x="1722802" y="3631230"/>
                </a:lnTo>
                <a:lnTo>
                  <a:pt x="1728365" y="3630065"/>
                </a:lnTo>
                <a:lnTo>
                  <a:pt x="1733925" y="3631230"/>
                </a:lnTo>
                <a:lnTo>
                  <a:pt x="1733925" y="3628902"/>
                </a:lnTo>
                <a:cubicBezTo>
                  <a:pt x="2441322" y="3529669"/>
                  <a:pt x="3172826" y="2499079"/>
                  <a:pt x="3192800" y="950334"/>
                </a:cubicBezTo>
                <a:cubicBezTo>
                  <a:pt x="3196179" y="741561"/>
                  <a:pt x="3123532" y="683408"/>
                  <a:pt x="2951007" y="672542"/>
                </a:cubicBezTo>
                <a:cubicBezTo>
                  <a:pt x="2488747" y="622713"/>
                  <a:pt x="2234630" y="521767"/>
                  <a:pt x="1733925" y="311530"/>
                </a:cubicBezTo>
                <a:lnTo>
                  <a:pt x="1733925" y="306889"/>
                </a:lnTo>
                <a:cubicBezTo>
                  <a:pt x="1732071" y="307669"/>
                  <a:pt x="1730218" y="308445"/>
                  <a:pt x="1728365" y="309209"/>
                </a:cubicBezTo>
                <a:cubicBezTo>
                  <a:pt x="1726510" y="308445"/>
                  <a:pt x="1724659" y="307669"/>
                  <a:pt x="1722802" y="306889"/>
                </a:cubicBezTo>
                <a:close/>
                <a:moveTo>
                  <a:pt x="1721800" y="0"/>
                </a:moveTo>
                <a:cubicBezTo>
                  <a:pt x="1723991" y="923"/>
                  <a:pt x="1726176" y="1844"/>
                  <a:pt x="1728363" y="2749"/>
                </a:cubicBezTo>
                <a:cubicBezTo>
                  <a:pt x="1730551" y="1844"/>
                  <a:pt x="1732737" y="923"/>
                  <a:pt x="1734926" y="0"/>
                </a:cubicBezTo>
                <a:lnTo>
                  <a:pt x="1734926" y="5497"/>
                </a:lnTo>
                <a:cubicBezTo>
                  <a:pt x="2325825" y="254550"/>
                  <a:pt x="2625718" y="374136"/>
                  <a:pt x="3171248" y="433164"/>
                </a:cubicBezTo>
                <a:cubicBezTo>
                  <a:pt x="3374850" y="446035"/>
                  <a:pt x="3460584" y="514926"/>
                  <a:pt x="3456595" y="762245"/>
                </a:cubicBezTo>
                <a:cubicBezTo>
                  <a:pt x="3433024" y="2596936"/>
                  <a:pt x="2569749" y="3817807"/>
                  <a:pt x="1734926" y="3935360"/>
                </a:cubicBezTo>
                <a:lnTo>
                  <a:pt x="1734926" y="3938119"/>
                </a:lnTo>
                <a:lnTo>
                  <a:pt x="1728363" y="3936740"/>
                </a:lnTo>
                <a:lnTo>
                  <a:pt x="1721800" y="3938119"/>
                </a:lnTo>
                <a:lnTo>
                  <a:pt x="1721800" y="3935360"/>
                </a:lnTo>
                <a:cubicBezTo>
                  <a:pt x="886977" y="3817807"/>
                  <a:pt x="23703" y="2596936"/>
                  <a:pt x="132" y="762245"/>
                </a:cubicBezTo>
                <a:cubicBezTo>
                  <a:pt x="-3858" y="514926"/>
                  <a:pt x="81876" y="446035"/>
                  <a:pt x="285478" y="433164"/>
                </a:cubicBezTo>
                <a:cubicBezTo>
                  <a:pt x="831010" y="374136"/>
                  <a:pt x="1130903" y="254550"/>
                  <a:pt x="1721800" y="54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79DD32C2-3A31-4CB8-B394-BEF9FF1EFA44}"/>
              </a:ext>
            </a:extLst>
          </p:cNvPr>
          <p:cNvSpPr>
            <a:spLocks noChangeAspect="1"/>
          </p:cNvSpPr>
          <p:nvPr/>
        </p:nvSpPr>
        <p:spPr>
          <a:xfrm>
            <a:off x="7093069" y="3827813"/>
            <a:ext cx="354261" cy="354222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2764687" y="782779"/>
                </a:moveTo>
                <a:cubicBezTo>
                  <a:pt x="2512183" y="782779"/>
                  <a:pt x="2307488" y="987475"/>
                  <a:pt x="2307487" y="1239980"/>
                </a:cubicBezTo>
                <a:cubicBezTo>
                  <a:pt x="2307487" y="1241985"/>
                  <a:pt x="2307500" y="1243987"/>
                  <a:pt x="2308092" y="1245978"/>
                </a:cubicBezTo>
                <a:lnTo>
                  <a:pt x="1570677" y="1632536"/>
                </a:lnTo>
                <a:cubicBezTo>
                  <a:pt x="1488749" y="1552118"/>
                  <a:pt x="1376387" y="1502860"/>
                  <a:pt x="1252520" y="1502859"/>
                </a:cubicBezTo>
                <a:cubicBezTo>
                  <a:pt x="1000014" y="1502859"/>
                  <a:pt x="795319" y="1707555"/>
                  <a:pt x="795319" y="1960060"/>
                </a:cubicBezTo>
                <a:cubicBezTo>
                  <a:pt x="795319" y="2212565"/>
                  <a:pt x="1000014" y="2417260"/>
                  <a:pt x="1252520" y="2417260"/>
                </a:cubicBezTo>
                <a:cubicBezTo>
                  <a:pt x="1361432" y="2417260"/>
                  <a:pt x="1461449" y="2379178"/>
                  <a:pt x="1538674" y="2313987"/>
                </a:cubicBezTo>
                <a:lnTo>
                  <a:pt x="2308734" y="2717656"/>
                </a:lnTo>
                <a:cubicBezTo>
                  <a:pt x="2314220" y="2964461"/>
                  <a:pt x="2516327" y="3162492"/>
                  <a:pt x="2764688" y="3162492"/>
                </a:cubicBezTo>
                <a:cubicBezTo>
                  <a:pt x="3017192" y="3162492"/>
                  <a:pt x="3221888" y="2957797"/>
                  <a:pt x="3221887" y="2705292"/>
                </a:cubicBezTo>
                <a:cubicBezTo>
                  <a:pt x="3221887" y="2452786"/>
                  <a:pt x="3017192" y="2248092"/>
                  <a:pt x="2764688" y="2248092"/>
                </a:cubicBezTo>
                <a:cubicBezTo>
                  <a:pt x="2638870" y="2248092"/>
                  <a:pt x="2524924" y="2298913"/>
                  <a:pt x="2442337" y="2381228"/>
                </a:cubicBezTo>
                <a:lnTo>
                  <a:pt x="1706164" y="1995322"/>
                </a:lnTo>
                <a:lnTo>
                  <a:pt x="1709074" y="1966451"/>
                </a:lnTo>
                <a:lnTo>
                  <a:pt x="2455698" y="1575067"/>
                </a:lnTo>
                <a:cubicBezTo>
                  <a:pt x="2536225" y="1651261"/>
                  <a:pt x="2645094" y="1697180"/>
                  <a:pt x="2764687" y="1697179"/>
                </a:cubicBezTo>
                <a:cubicBezTo>
                  <a:pt x="3017193" y="1697180"/>
                  <a:pt x="3221887" y="1492485"/>
                  <a:pt x="3221888" y="1239980"/>
                </a:cubicBezTo>
                <a:cubicBezTo>
                  <a:pt x="3221887" y="987475"/>
                  <a:pt x="3017193" y="782779"/>
                  <a:pt x="2764687" y="782779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Rounded Rectangle 1">
            <a:extLst>
              <a:ext uri="{FF2B5EF4-FFF2-40B4-BE49-F238E27FC236}">
                <a16:creationId xmlns:a16="http://schemas.microsoft.com/office/drawing/2014/main" id="{DF1A540A-7E58-4183-B088-794B96DF38CE}"/>
              </a:ext>
            </a:extLst>
          </p:cNvPr>
          <p:cNvSpPr>
            <a:spLocks noChangeAspect="1"/>
          </p:cNvSpPr>
          <p:nvPr/>
        </p:nvSpPr>
        <p:spPr>
          <a:xfrm rot="2648398">
            <a:off x="6529429" y="4733082"/>
            <a:ext cx="167203" cy="427626"/>
          </a:xfrm>
          <a:custGeom>
            <a:avLst/>
            <a:gdLst/>
            <a:ahLst/>
            <a:cxnLst/>
            <a:rect l="l" t="t" r="r" b="b"/>
            <a:pathLst>
              <a:path w="1862952" h="4764557">
                <a:moveTo>
                  <a:pt x="289679" y="2004751"/>
                </a:moveTo>
                <a:cubicBezTo>
                  <a:pt x="458860" y="1838972"/>
                  <a:pt x="691283" y="1737733"/>
                  <a:pt x="946849" y="1740329"/>
                </a:cubicBezTo>
                <a:cubicBezTo>
                  <a:pt x="982916" y="1740695"/>
                  <a:pt x="1018481" y="1743119"/>
                  <a:pt x="1053366" y="1748014"/>
                </a:cubicBezTo>
                <a:cubicBezTo>
                  <a:pt x="1317748" y="1888655"/>
                  <a:pt x="1203170" y="2165630"/>
                  <a:pt x="978473" y="2204473"/>
                </a:cubicBezTo>
                <a:cubicBezTo>
                  <a:pt x="966642" y="2201190"/>
                  <a:pt x="954470" y="2200566"/>
                  <a:pt x="942176" y="2200441"/>
                </a:cubicBezTo>
                <a:cubicBezTo>
                  <a:pt x="697403" y="2197955"/>
                  <a:pt x="496962" y="2394367"/>
                  <a:pt x="494475" y="2639137"/>
                </a:cubicBezTo>
                <a:lnTo>
                  <a:pt x="482110" y="3856696"/>
                </a:lnTo>
                <a:cubicBezTo>
                  <a:pt x="479624" y="4101467"/>
                  <a:pt x="676035" y="4301910"/>
                  <a:pt x="920807" y="4304396"/>
                </a:cubicBezTo>
                <a:cubicBezTo>
                  <a:pt x="1043193" y="4305639"/>
                  <a:pt x="1154496" y="4257158"/>
                  <a:pt x="1235513" y="4177768"/>
                </a:cubicBezTo>
                <a:cubicBezTo>
                  <a:pt x="1316531" y="4098380"/>
                  <a:pt x="1367262" y="3988084"/>
                  <a:pt x="1368506" y="3865699"/>
                </a:cubicBezTo>
                <a:lnTo>
                  <a:pt x="1375662" y="3161156"/>
                </a:lnTo>
                <a:cubicBezTo>
                  <a:pt x="1504082" y="3167548"/>
                  <a:pt x="1792622" y="2981572"/>
                  <a:pt x="1861834" y="2783546"/>
                </a:cubicBezTo>
                <a:lnTo>
                  <a:pt x="1851019" y="3848423"/>
                </a:lnTo>
                <a:cubicBezTo>
                  <a:pt x="1848423" y="4103989"/>
                  <a:pt x="1742485" y="4334308"/>
                  <a:pt x="1573304" y="4500088"/>
                </a:cubicBezTo>
                <a:cubicBezTo>
                  <a:pt x="1404123" y="4665866"/>
                  <a:pt x="1171700" y="4767105"/>
                  <a:pt x="916134" y="4764509"/>
                </a:cubicBezTo>
                <a:cubicBezTo>
                  <a:pt x="405002" y="4759318"/>
                  <a:pt x="-5143" y="4340756"/>
                  <a:pt x="48" y="3829624"/>
                </a:cubicBezTo>
                <a:lnTo>
                  <a:pt x="11964" y="2656415"/>
                </a:lnTo>
                <a:cubicBezTo>
                  <a:pt x="14559" y="2400849"/>
                  <a:pt x="120498" y="2170529"/>
                  <a:pt x="289679" y="2004751"/>
                </a:cubicBezTo>
                <a:close/>
                <a:moveTo>
                  <a:pt x="282968" y="271082"/>
                </a:moveTo>
                <a:cubicBezTo>
                  <a:pt x="450457" y="103594"/>
                  <a:pt x="681840" y="0"/>
                  <a:pt x="937419" y="0"/>
                </a:cubicBezTo>
                <a:cubicBezTo>
                  <a:pt x="1448577" y="0"/>
                  <a:pt x="1862952" y="414375"/>
                  <a:pt x="1862952" y="925533"/>
                </a:cubicBezTo>
                <a:lnTo>
                  <a:pt x="1862952" y="2098803"/>
                </a:lnTo>
                <a:cubicBezTo>
                  <a:pt x="1862952" y="2609961"/>
                  <a:pt x="1448577" y="3024336"/>
                  <a:pt x="937419" y="3024336"/>
                </a:cubicBezTo>
                <a:cubicBezTo>
                  <a:pt x="901350" y="3024336"/>
                  <a:pt x="865762" y="3022273"/>
                  <a:pt x="830829" y="3017733"/>
                </a:cubicBezTo>
                <a:cubicBezTo>
                  <a:pt x="565032" y="2879784"/>
                  <a:pt x="676792" y="2601660"/>
                  <a:pt x="901083" y="2560538"/>
                </a:cubicBezTo>
                <a:cubicBezTo>
                  <a:pt x="912947" y="2563700"/>
                  <a:pt x="925124" y="2564200"/>
                  <a:pt x="937419" y="2564200"/>
                </a:cubicBezTo>
                <a:cubicBezTo>
                  <a:pt x="1182204" y="2564200"/>
                  <a:pt x="1380640" y="2365763"/>
                  <a:pt x="1380641" y="2120980"/>
                </a:cubicBezTo>
                <a:lnTo>
                  <a:pt x="1380640" y="903358"/>
                </a:lnTo>
                <a:cubicBezTo>
                  <a:pt x="1380640" y="658574"/>
                  <a:pt x="1182204" y="460137"/>
                  <a:pt x="937419" y="460137"/>
                </a:cubicBezTo>
                <a:cubicBezTo>
                  <a:pt x="815027" y="460137"/>
                  <a:pt x="704222" y="509746"/>
                  <a:pt x="624015" y="589954"/>
                </a:cubicBezTo>
                <a:cubicBezTo>
                  <a:pt x="543808" y="670161"/>
                  <a:pt x="494199" y="780966"/>
                  <a:pt x="494199" y="903358"/>
                </a:cubicBezTo>
                <a:lnTo>
                  <a:pt x="494198" y="1607937"/>
                </a:lnTo>
                <a:cubicBezTo>
                  <a:pt x="365720" y="1602850"/>
                  <a:pt x="79084" y="1791747"/>
                  <a:pt x="11886" y="1990465"/>
                </a:cubicBezTo>
                <a:lnTo>
                  <a:pt x="11886" y="925533"/>
                </a:lnTo>
                <a:cubicBezTo>
                  <a:pt x="11886" y="669954"/>
                  <a:pt x="115480" y="438571"/>
                  <a:pt x="282968" y="2710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EB288E0-D686-4CE3-A33F-1D9E33DC33BA}"/>
              </a:ext>
            </a:extLst>
          </p:cNvPr>
          <p:cNvGrpSpPr/>
          <p:nvPr/>
        </p:nvGrpSpPr>
        <p:grpSpPr>
          <a:xfrm>
            <a:off x="8416723" y="3601109"/>
            <a:ext cx="2876043" cy="709281"/>
            <a:chOff x="1199735" y="1275606"/>
            <a:chExt cx="1962585" cy="70928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F1D331E-C7EF-4B93-AEA2-E927CBFE7EFA}"/>
                </a:ext>
              </a:extLst>
            </p:cNvPr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高效单机架构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0A236C-DE59-4F82-B484-3E2F563C2E83}"/>
                </a:ext>
              </a:extLst>
            </p:cNvPr>
            <p:cNvSpPr txBox="1"/>
            <p:nvPr/>
          </p:nvSpPr>
          <p:spPr>
            <a:xfrm>
              <a:off x="1199735" y="1523222"/>
              <a:ext cx="1962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便于开发调试、教学演示，无需分布式部署。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157E936-AE8C-4C3F-AB0C-7FD559BB77FD}"/>
              </a:ext>
            </a:extLst>
          </p:cNvPr>
          <p:cNvGrpSpPr/>
          <p:nvPr/>
        </p:nvGrpSpPr>
        <p:grpSpPr>
          <a:xfrm>
            <a:off x="899235" y="3601109"/>
            <a:ext cx="2876043" cy="893947"/>
            <a:chOff x="1199735" y="1275606"/>
            <a:chExt cx="1962585" cy="89394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9674E5A-EEF6-496F-BA61-195C9714AC4F}"/>
                </a:ext>
              </a:extLst>
            </p:cNvPr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可视化审计支持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327225-5182-4D18-950E-6F98B7674E9F}"/>
                </a:ext>
              </a:extLst>
            </p:cNvPr>
            <p:cNvSpPr txBox="1"/>
            <p:nvPr/>
          </p:nvSpPr>
          <p:spPr>
            <a:xfrm>
              <a:off x="1199735" y="1523222"/>
              <a:ext cx="19625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前端展示 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SOP 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状态、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Agent 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经济数据、区块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交易详情，支持 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Merkle Proof 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验证证据完整性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E63F0C-2600-4570-9ACA-763EBDD6E71A}"/>
              </a:ext>
            </a:extLst>
          </p:cNvPr>
          <p:cNvGrpSpPr/>
          <p:nvPr/>
        </p:nvGrpSpPr>
        <p:grpSpPr>
          <a:xfrm>
            <a:off x="7396103" y="1817714"/>
            <a:ext cx="2876043" cy="709281"/>
            <a:chOff x="1199735" y="1275606"/>
            <a:chExt cx="1962585" cy="70928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4B195-76EB-4D35-93B2-FC88B9517F9D}"/>
                </a:ext>
              </a:extLst>
            </p:cNvPr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经济模型接口预留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DB18B18-0CB4-4611-BB2B-D7CA6E1983D8}"/>
                </a:ext>
              </a:extLst>
            </p:cNvPr>
            <p:cNvSpPr txBox="1"/>
            <p:nvPr/>
          </p:nvSpPr>
          <p:spPr>
            <a:xfrm>
              <a:off x="1199735" y="1523222"/>
              <a:ext cx="1962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通过智能合约实现正向激励与逆向惩罚，绑定投票行为与经济后果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3E9848F-FAEF-467F-9107-EFD3A9D89744}"/>
              </a:ext>
            </a:extLst>
          </p:cNvPr>
          <p:cNvGrpSpPr/>
          <p:nvPr/>
        </p:nvGrpSpPr>
        <p:grpSpPr>
          <a:xfrm>
            <a:off x="7396103" y="5384504"/>
            <a:ext cx="2876043" cy="893947"/>
            <a:chOff x="1199735" y="1275606"/>
            <a:chExt cx="1962585" cy="89394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A6D34D3-86DB-4805-B446-4FE4C4AAE36E}"/>
                </a:ext>
              </a:extLst>
            </p:cNvPr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解决方案工程师优化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9B9BF34-42B9-46E7-9FDF-328CC25C6E75}"/>
                </a:ext>
              </a:extLst>
            </p:cNvPr>
            <p:cNvSpPr txBox="1"/>
            <p:nvPr/>
          </p:nvSpPr>
          <p:spPr>
            <a:xfrm>
              <a:off x="1199735" y="1523222"/>
              <a:ext cx="19625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生成 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7 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步可操作修复指南（如检查资源、分析日志、优化 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SQL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、重启服务等），远超原论文的模糊建议。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6A644A0-E44A-4833-8C04-7CF21735EA04}"/>
              </a:ext>
            </a:extLst>
          </p:cNvPr>
          <p:cNvGrpSpPr/>
          <p:nvPr/>
        </p:nvGrpSpPr>
        <p:grpSpPr>
          <a:xfrm>
            <a:off x="1919854" y="1817714"/>
            <a:ext cx="2876043" cy="709281"/>
            <a:chOff x="1199735" y="1275606"/>
            <a:chExt cx="1962585" cy="70928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939702C-3365-4B65-B5FC-F96B2A05DD5E}"/>
                </a:ext>
              </a:extLst>
            </p:cNvPr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SOP </a:t>
              </a:r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状态机约束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5C2BE5A-DAF3-4255-8FF0-3927FF6601CC}"/>
                </a:ext>
              </a:extLst>
            </p:cNvPr>
            <p:cNvSpPr txBox="1"/>
            <p:nvPr/>
          </p:nvSpPr>
          <p:spPr>
            <a:xfrm>
              <a:off x="1199735" y="1523222"/>
              <a:ext cx="19625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严格限制 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Agent 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行为顺序，防止越界或跳步，提升流程可靠性。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3722C8D-EC5D-4E17-BA32-AC6BD18C1ACF}"/>
              </a:ext>
            </a:extLst>
          </p:cNvPr>
          <p:cNvGrpSpPr/>
          <p:nvPr/>
        </p:nvGrpSpPr>
        <p:grpSpPr>
          <a:xfrm>
            <a:off x="1919854" y="5384504"/>
            <a:ext cx="2876043" cy="893947"/>
            <a:chOff x="1199735" y="1275606"/>
            <a:chExt cx="1962585" cy="89394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798A40A-A623-40A6-9A80-352225AC4F89}"/>
                </a:ext>
              </a:extLst>
            </p:cNvPr>
            <p:cNvSpPr txBox="1"/>
            <p:nvPr/>
          </p:nvSpPr>
          <p:spPr>
            <a:xfrm>
              <a:off x="1199735" y="1275606"/>
              <a:ext cx="19625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根因定位精度提升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B7804EB-A0E5-4DFF-926D-274A96DE69D9}"/>
                </a:ext>
              </a:extLst>
            </p:cNvPr>
            <p:cNvSpPr txBox="1"/>
            <p:nvPr/>
          </p:nvSpPr>
          <p:spPr>
            <a:xfrm>
              <a:off x="1199735" y="1523222"/>
              <a:ext cx="19625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在测试案例中准确定位 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food-buy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并通过 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food-cancel 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正常指标反证，避免幻觉。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0" name="Hexagon 39">
            <a:extLst>
              <a:ext uri="{FF2B5EF4-FFF2-40B4-BE49-F238E27FC236}">
                <a16:creationId xmlns:a16="http://schemas.microsoft.com/office/drawing/2014/main" id="{AFC8638A-720C-4C76-BE4F-EF230D866107}"/>
              </a:ext>
            </a:extLst>
          </p:cNvPr>
          <p:cNvSpPr/>
          <p:nvPr/>
        </p:nvSpPr>
        <p:spPr>
          <a:xfrm rot="19747125">
            <a:off x="5937870" y="1950579"/>
            <a:ext cx="316254" cy="271075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Hexagon 40">
            <a:extLst>
              <a:ext uri="{FF2B5EF4-FFF2-40B4-BE49-F238E27FC236}">
                <a16:creationId xmlns:a16="http://schemas.microsoft.com/office/drawing/2014/main" id="{39092F61-2620-48D7-8894-5C6F16A22409}"/>
              </a:ext>
            </a:extLst>
          </p:cNvPr>
          <p:cNvSpPr/>
          <p:nvPr/>
        </p:nvSpPr>
        <p:spPr>
          <a:xfrm rot="19747125">
            <a:off x="7617327" y="2916916"/>
            <a:ext cx="316254" cy="271075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Hexagon 41">
            <a:extLst>
              <a:ext uri="{FF2B5EF4-FFF2-40B4-BE49-F238E27FC236}">
                <a16:creationId xmlns:a16="http://schemas.microsoft.com/office/drawing/2014/main" id="{9DA61520-9746-44B3-ABE3-9C7E69A4F08E}"/>
              </a:ext>
            </a:extLst>
          </p:cNvPr>
          <p:cNvSpPr/>
          <p:nvPr/>
        </p:nvSpPr>
        <p:spPr>
          <a:xfrm rot="19747125">
            <a:off x="7622069" y="4870606"/>
            <a:ext cx="316254" cy="271075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Hexagon 42">
            <a:extLst>
              <a:ext uri="{FF2B5EF4-FFF2-40B4-BE49-F238E27FC236}">
                <a16:creationId xmlns:a16="http://schemas.microsoft.com/office/drawing/2014/main" id="{6F7AC350-4E2C-435F-83A7-13EDC11787A0}"/>
              </a:ext>
            </a:extLst>
          </p:cNvPr>
          <p:cNvSpPr/>
          <p:nvPr/>
        </p:nvSpPr>
        <p:spPr>
          <a:xfrm rot="19747125">
            <a:off x="5937870" y="5819748"/>
            <a:ext cx="316254" cy="271075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Hexagon 43">
            <a:extLst>
              <a:ext uri="{FF2B5EF4-FFF2-40B4-BE49-F238E27FC236}">
                <a16:creationId xmlns:a16="http://schemas.microsoft.com/office/drawing/2014/main" id="{8A35E88A-02E9-48A2-AD81-E357EB419EB9}"/>
              </a:ext>
            </a:extLst>
          </p:cNvPr>
          <p:cNvSpPr/>
          <p:nvPr/>
        </p:nvSpPr>
        <p:spPr>
          <a:xfrm rot="19747125">
            <a:off x="4260498" y="4894277"/>
            <a:ext cx="316254" cy="271075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Hexagon 44">
            <a:extLst>
              <a:ext uri="{FF2B5EF4-FFF2-40B4-BE49-F238E27FC236}">
                <a16:creationId xmlns:a16="http://schemas.microsoft.com/office/drawing/2014/main" id="{D19EACC3-6D3C-4FA7-9ACF-72C5408EBCC7}"/>
              </a:ext>
            </a:extLst>
          </p:cNvPr>
          <p:cNvSpPr/>
          <p:nvPr/>
        </p:nvSpPr>
        <p:spPr>
          <a:xfrm rot="19747125">
            <a:off x="4278242" y="2956103"/>
            <a:ext cx="316254" cy="271075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Text Placeholder 1">
            <a:extLst>
              <a:ext uri="{FF2B5EF4-FFF2-40B4-BE49-F238E27FC236}">
                <a16:creationId xmlns:a16="http://schemas.microsoft.com/office/drawing/2014/main" id="{8DB81963-BCAC-4771-AAE0-79DFBEE9F333}"/>
              </a:ext>
            </a:extLst>
          </p:cNvPr>
          <p:cNvSpPr txBox="1">
            <a:spLocks/>
          </p:cNvSpPr>
          <p:nvPr/>
        </p:nvSpPr>
        <p:spPr>
          <a:xfrm>
            <a:off x="323530" y="339510"/>
            <a:ext cx="2271864" cy="487264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创新点</a:t>
            </a:r>
          </a:p>
        </p:txBody>
      </p:sp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F8EF26-7AD5-4E7F-95B3-9A57CF80C483}"/>
              </a:ext>
            </a:extLst>
          </p:cNvPr>
          <p:cNvSpPr txBox="1"/>
          <p:nvPr/>
        </p:nvSpPr>
        <p:spPr>
          <a:xfrm>
            <a:off x="1" y="4609981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6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744D947D-389C-4226-AA7F-781F6853DEC1}"/>
              </a:ext>
            </a:extLst>
          </p:cNvPr>
          <p:cNvSpPr txBox="1"/>
          <p:nvPr/>
        </p:nvSpPr>
        <p:spPr>
          <a:xfrm>
            <a:off x="2472690" y="5752889"/>
            <a:ext cx="7246620" cy="6669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2350284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张俊峰、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2351041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刘浩田、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2351131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韦世贸、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2354090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王家睿、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2353731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毛韩宇、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2354284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胡永杰、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2351143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吕奎辰、</a:t>
            </a:r>
            <a:r>
              <a:rPr lang="en-US" altLang="zh-CN" sz="1867" dirty="0">
                <a:solidFill>
                  <a:schemeClr val="bg1"/>
                </a:solidFill>
                <a:cs typeface="Arial" pitchFamily="34" charset="0"/>
              </a:rPr>
              <a:t>2352031</a:t>
            </a:r>
            <a:r>
              <a:rPr lang="zh-CN" altLang="en-US" sz="1867" dirty="0">
                <a:solidFill>
                  <a:schemeClr val="bg1"/>
                </a:solidFill>
                <a:cs typeface="Arial" pitchFamily="34" charset="0"/>
              </a:rPr>
              <a:t>古振</a:t>
            </a:r>
          </a:p>
        </p:txBody>
      </p: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4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4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3941</TotalTime>
  <Words>432</Words>
  <Application>Microsoft Office PowerPoint</Application>
  <PresentationFormat>宽屏</PresentationFormat>
  <Paragraphs>49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Cover and End Slide Master</vt:lpstr>
      <vt:lpstr>Contents Slide Master</vt:lpstr>
      <vt:lpstr>Section Break Slide Master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韩宇 毛</cp:lastModifiedBy>
  <cp:revision>90</cp:revision>
  <dcterms:created xsi:type="dcterms:W3CDTF">2020-01-20T05:08:25Z</dcterms:created>
  <dcterms:modified xsi:type="dcterms:W3CDTF">2025-12-27T07:27:02Z</dcterms:modified>
</cp:coreProperties>
</file>